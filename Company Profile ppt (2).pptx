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7" r:id="rId5"/>
    <p:sldId id="258" r:id="rId6"/>
    <p:sldId id="259" r:id="rId7"/>
    <p:sldId id="260" r:id="rId8"/>
    <p:sldId id="262" r:id="rId9"/>
    <p:sldId id="261" r:id="rId10"/>
    <p:sldId id="263" r:id="rId11"/>
    <p:sldId id="264" r:id="rId12"/>
    <p:sldId id="265" r:id="rId13"/>
    <p:sldId id="266"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7" autoAdjust="0"/>
    <p:restoredTop sz="94727" autoAdjust="0"/>
  </p:normalViewPr>
  <p:slideViewPr>
    <p:cSldViewPr>
      <p:cViewPr varScale="1">
        <p:scale>
          <a:sx n="68" d="100"/>
          <a:sy n="68" d="100"/>
        </p:scale>
        <p:origin x="-144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0F297CE-B251-43A3-B6D6-CFE97D022A7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24B79F-8C95-41D3-B8FC-9D0F25E645BC}"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30F297CE-B251-43A3-B6D6-CFE97D022A7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24B79F-8C95-41D3-B8FC-9D0F25E645B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30F297CE-B251-43A3-B6D6-CFE97D022A7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24B79F-8C95-41D3-B8FC-9D0F25E645BC}"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30F297CE-B251-43A3-B6D6-CFE97D022A7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24B79F-8C95-41D3-B8FC-9D0F25E645B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30F297CE-B251-43A3-B6D6-CFE97D022A70}"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24B79F-8C95-41D3-B8FC-9D0F25E645B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0F297CE-B251-43A3-B6D6-CFE97D022A70}"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24B79F-8C95-41D3-B8FC-9D0F25E645B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F297CE-B251-43A3-B6D6-CFE97D022A70}"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24B79F-8C95-41D3-B8FC-9D0F25E645B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30F297CE-B251-43A3-B6D6-CFE97D022A7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24B79F-8C95-41D3-B8FC-9D0F25E645B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30F297CE-B251-43A3-B6D6-CFE97D022A7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24B79F-8C95-41D3-B8FC-9D0F25E645B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30F297CE-B251-43A3-B6D6-CFE97D022A7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24B79F-8C95-41D3-B8FC-9D0F25E645B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30F297CE-B251-43A3-B6D6-CFE97D022A7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24B79F-8C95-41D3-B8FC-9D0F25E645B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F297CE-B251-43A3-B6D6-CFE97D022A70}"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24B79F-8C95-41D3-B8FC-9D0F25E645BC}"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jpeg"/><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jpeg"/><Relationship Id="rId15" Type="http://schemas.openxmlformats.org/officeDocument/2006/relationships/slideLayout" Target="../slideLayouts/slideLayout2.xml"/><Relationship Id="rId14" Type="http://schemas.openxmlformats.org/officeDocument/2006/relationships/image" Target="../media/image24.jpeg"/><Relationship Id="rId13" Type="http://schemas.openxmlformats.org/officeDocument/2006/relationships/image" Target="../media/image23.png"/><Relationship Id="rId12" Type="http://schemas.openxmlformats.org/officeDocument/2006/relationships/image" Target="../media/image22.jpeg"/><Relationship Id="rId11" Type="http://schemas.openxmlformats.org/officeDocument/2006/relationships/image" Target="../media/image21.png"/><Relationship Id="rId10" Type="http://schemas.openxmlformats.org/officeDocument/2006/relationships/image" Target="../media/image20.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9" Type="http://schemas.openxmlformats.org/officeDocument/2006/relationships/image" Target="../media/image32.png"/><Relationship Id="rId8" Type="http://schemas.openxmlformats.org/officeDocument/2006/relationships/image" Target="../media/image31.png"/><Relationship Id="rId7" Type="http://schemas.openxmlformats.org/officeDocument/2006/relationships/image" Target="../media/image30.png"/><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GIF"/><Relationship Id="rId3" Type="http://schemas.openxmlformats.org/officeDocument/2006/relationships/image" Target="../media/image26.png"/><Relationship Id="rId2" Type="http://schemas.openxmlformats.org/officeDocument/2006/relationships/image" Target="../media/image25.png"/><Relationship Id="rId15" Type="http://schemas.openxmlformats.org/officeDocument/2006/relationships/slideLayout" Target="../slideLayouts/slideLayout2.xml"/><Relationship Id="rId14" Type="http://schemas.openxmlformats.org/officeDocument/2006/relationships/image" Target="../media/image37.png"/><Relationship Id="rId13" Type="http://schemas.openxmlformats.org/officeDocument/2006/relationships/image" Target="../media/image36.png"/><Relationship Id="rId12" Type="http://schemas.openxmlformats.org/officeDocument/2006/relationships/image" Target="../media/image35.png"/><Relationship Id="rId11" Type="http://schemas.openxmlformats.org/officeDocument/2006/relationships/image" Target="../media/image34.png"/><Relationship Id="rId10" Type="http://schemas.openxmlformats.org/officeDocument/2006/relationships/image" Target="../media/image33.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40.png"/><Relationship Id="rId4" Type="http://schemas.openxmlformats.org/officeDocument/2006/relationships/image" Target="../media/image39.jpeg"/><Relationship Id="rId3" Type="http://schemas.openxmlformats.org/officeDocument/2006/relationships/image" Target="../media/image38.png"/><Relationship Id="rId2" Type="http://schemas.openxmlformats.org/officeDocument/2006/relationships/hyperlink" Target="mailto:hr@perceptinfosystem.com" TargetMode="Externa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413a0c69df5d126b4e76335f752b3702.jpg"/>
          <p:cNvPicPr>
            <a:picLocks noChangeAspect="1"/>
          </p:cNvPicPr>
          <p:nvPr/>
        </p:nvPicPr>
        <p:blipFill>
          <a:blip r:embed="rId1" cstate="print">
            <a:lum contrast="4000"/>
          </a:blip>
          <a:stretch>
            <a:fillRect/>
          </a:stretch>
        </p:blipFill>
        <p:spPr>
          <a:xfrm>
            <a:off x="0" y="0"/>
            <a:ext cx="9147250" cy="6858000"/>
          </a:xfrm>
          <a:prstGeom prst="rect">
            <a:avLst/>
          </a:prstGeom>
        </p:spPr>
      </p:pic>
      <p:sp>
        <p:nvSpPr>
          <p:cNvPr id="4" name="Title 3"/>
          <p:cNvSpPr>
            <a:spLocks noGrp="1"/>
          </p:cNvSpPr>
          <p:nvPr>
            <p:ph type="title"/>
          </p:nvPr>
        </p:nvSpPr>
        <p:spPr>
          <a:xfrm>
            <a:off x="467544" y="980728"/>
            <a:ext cx="8229600" cy="504056"/>
          </a:xfrm>
        </p:spPr>
        <p:txBody>
          <a:bodyPr>
            <a:noAutofit/>
          </a:bodyPr>
          <a:lstStyle/>
          <a:p>
            <a:r>
              <a:rPr lang="en-US" b="1" dirty="0" smtClean="0">
                <a:latin typeface="+mn-lt"/>
              </a:rPr>
              <a:t>Company Profile</a:t>
            </a:r>
            <a:endParaRPr lang="en-US" b="1" dirty="0">
              <a:latin typeface="+mn-lt"/>
            </a:endParaRPr>
          </a:p>
        </p:txBody>
      </p:sp>
      <p:sp>
        <p:nvSpPr>
          <p:cNvPr id="5" name="Content Placeholder 4"/>
          <p:cNvSpPr>
            <a:spLocks noGrp="1"/>
          </p:cNvSpPr>
          <p:nvPr>
            <p:ph idx="1"/>
          </p:nvPr>
        </p:nvSpPr>
        <p:spPr>
          <a:xfrm>
            <a:off x="467544" y="2060848"/>
            <a:ext cx="8229600" cy="4497363"/>
          </a:xfrm>
        </p:spPr>
        <p:txBody>
          <a:bodyPr>
            <a:normAutofit/>
          </a:bodyPr>
          <a:lstStyle/>
          <a:p>
            <a:pPr algn="just">
              <a:buNone/>
            </a:pPr>
            <a:r>
              <a:rPr lang="en-US" sz="3600" dirty="0" smtClean="0">
                <a:latin typeface="Agency FB" panose="020B0503020202020204" pitchFamily="34" charset="0"/>
              </a:rPr>
              <a:t>    </a:t>
            </a:r>
            <a:r>
              <a:rPr lang="en-US" sz="3600" b="1" dirty="0" smtClean="0"/>
              <a:t>Percept Infosystem is an IT &amp; Edu Tech  company based in Nagpur offering services in the area of application development, web development, Training in IT and Non- IT Languages and Outsourcing</a:t>
            </a:r>
            <a:r>
              <a:rPr lang="en-US" sz="3600" b="1" dirty="0" smtClean="0">
                <a:latin typeface="Agency FB" panose="020B0503020202020204" pitchFamily="34" charset="0"/>
              </a:rPr>
              <a:t>.</a:t>
            </a:r>
            <a:endParaRPr lang="en-US" sz="3600" b="1" dirty="0" smtClean="0">
              <a:latin typeface="Agency FB" panose="020B0503020202020204" pitchFamily="34" charset="0"/>
            </a:endParaRPr>
          </a:p>
          <a:p>
            <a:pPr algn="just">
              <a:buNone/>
            </a:pPr>
            <a:endParaRPr lang="en-IN" sz="3600" b="1" dirty="0">
              <a:latin typeface="Agency FB" panose="020B0503020202020204" pitchFamily="34" charset="0"/>
            </a:endParaRPr>
          </a:p>
          <a:p>
            <a:pPr algn="just">
              <a:buNone/>
            </a:pPr>
            <a:endParaRPr lang="en-IN" sz="3600" b="1" dirty="0" smtClean="0">
              <a:latin typeface="Agency FB" panose="020B0503020202020204" pitchFamily="34" charset="0"/>
            </a:endParaRPr>
          </a:p>
          <a:p>
            <a:pPr algn="just">
              <a:buNone/>
            </a:pPr>
            <a:endParaRPr lang="en-IN" sz="3600" b="1" dirty="0">
              <a:latin typeface="Agency FB" panose="020B0503020202020204" pitchFamily="34" charset="0"/>
            </a:endParaRPr>
          </a:p>
          <a:p>
            <a:pPr algn="just">
              <a:buNone/>
            </a:pPr>
            <a:endParaRPr lang="en-IN" sz="3600" b="1" dirty="0" smtClean="0">
              <a:latin typeface="Agency FB" panose="020B0503020202020204" pitchFamily="34" charset="0"/>
            </a:endParaRPr>
          </a:p>
          <a:p>
            <a:pPr algn="just">
              <a:buNone/>
            </a:pPr>
            <a:endParaRPr lang="en-IN" sz="3600" b="1" dirty="0">
              <a:latin typeface="Agency FB" panose="020B0503020202020204" pitchFamily="34" charset="0"/>
            </a:endParaRPr>
          </a:p>
          <a:p>
            <a:pPr algn="just">
              <a:buNone/>
            </a:pPr>
            <a:endParaRPr lang="en-US" sz="3600" b="1" dirty="0">
              <a:latin typeface="Agency FB" panose="020B0503020202020204" pitchFamily="34" charset="0"/>
            </a:endParaRPr>
          </a:p>
        </p:txBody>
      </p:sp>
      <p:pic>
        <p:nvPicPr>
          <p:cNvPr id="12" name="Picture 11" descr="percept logo.png"/>
          <p:cNvPicPr>
            <a:picLocks noChangeAspect="1"/>
          </p:cNvPicPr>
          <p:nvPr/>
        </p:nvPicPr>
        <p:blipFill>
          <a:blip r:embed="rId2" cstate="print"/>
          <a:stretch>
            <a:fillRect/>
          </a:stretch>
        </p:blipFill>
        <p:spPr>
          <a:xfrm>
            <a:off x="179513" y="0"/>
            <a:ext cx="2679688" cy="10527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413a0c69df5d126b4e76335f752b3702.jpg"/>
          <p:cNvPicPr>
            <a:picLocks noChangeAspect="1"/>
          </p:cNvPicPr>
          <p:nvPr/>
        </p:nvPicPr>
        <p:blipFill>
          <a:blip r:embed="rId1" cstate="print"/>
          <a:stretch>
            <a:fillRect/>
          </a:stretch>
        </p:blipFill>
        <p:spPr>
          <a:xfrm>
            <a:off x="0" y="0"/>
            <a:ext cx="9147250" cy="6858000"/>
          </a:xfrm>
          <a:prstGeom prst="rect">
            <a:avLst/>
          </a:prstGeom>
        </p:spPr>
      </p:pic>
      <p:sp>
        <p:nvSpPr>
          <p:cNvPr id="2" name="Title 1"/>
          <p:cNvSpPr>
            <a:spLocks noGrp="1"/>
          </p:cNvSpPr>
          <p:nvPr>
            <p:ph type="title"/>
          </p:nvPr>
        </p:nvSpPr>
        <p:spPr/>
        <p:txBody>
          <a:bodyPr/>
          <a:lstStyle/>
          <a:p>
            <a:r>
              <a:rPr lang="en-IN" b="1" dirty="0" smtClean="0"/>
              <a:t>Our Vision and Mission</a:t>
            </a:r>
            <a:endParaRPr lang="en-US" b="1" dirty="0"/>
          </a:p>
        </p:txBody>
      </p:sp>
      <p:pic>
        <p:nvPicPr>
          <p:cNvPr id="4" name="Content Placeholder 3" descr="951-9515792_vision-mission-mission-and-vision-clipart-png.png"/>
          <p:cNvPicPr>
            <a:picLocks noGrp="1" noChangeAspect="1"/>
          </p:cNvPicPr>
          <p:nvPr>
            <p:ph idx="1"/>
          </p:nvPr>
        </p:nvPicPr>
        <p:blipFill>
          <a:blip r:embed="rId2" cstate="print"/>
          <a:stretch>
            <a:fillRect/>
          </a:stretch>
        </p:blipFill>
        <p:spPr>
          <a:xfrm>
            <a:off x="2771800" y="1340768"/>
            <a:ext cx="3672408" cy="2413936"/>
          </a:xfrm>
        </p:spPr>
      </p:pic>
      <p:sp>
        <p:nvSpPr>
          <p:cNvPr id="5" name="TextBox 4"/>
          <p:cNvSpPr txBox="1"/>
          <p:nvPr/>
        </p:nvSpPr>
        <p:spPr>
          <a:xfrm>
            <a:off x="539552" y="4365104"/>
            <a:ext cx="4104456" cy="1969770"/>
          </a:xfrm>
          <a:prstGeom prst="rect">
            <a:avLst/>
          </a:prstGeom>
          <a:noFill/>
        </p:spPr>
        <p:txBody>
          <a:bodyPr wrap="square" rtlCol="0">
            <a:spAutoFit/>
          </a:bodyPr>
          <a:lstStyle/>
          <a:p>
            <a:pPr lvl="0"/>
            <a:r>
              <a:rPr lang="en-US" sz="2000" b="1" dirty="0" smtClean="0"/>
              <a:t>                       </a:t>
            </a:r>
            <a:r>
              <a:rPr lang="en-US" sz="2400" b="1" dirty="0" smtClean="0"/>
              <a:t>Vision </a:t>
            </a:r>
            <a:r>
              <a:rPr lang="en-US" sz="2400" b="1" dirty="0"/>
              <a:t>:</a:t>
            </a:r>
            <a:endParaRPr lang="en-US" sz="2400" dirty="0"/>
          </a:p>
          <a:p>
            <a:r>
              <a:rPr lang="en-US" sz="2000" dirty="0"/>
              <a:t>"Consistently deliver comprehensive and efficient software development solution and best  services to the clients".</a:t>
            </a:r>
            <a:endParaRPr lang="en-US" sz="2000" dirty="0"/>
          </a:p>
          <a:p>
            <a:endParaRPr lang="en-US" dirty="0"/>
          </a:p>
        </p:txBody>
      </p:sp>
      <p:sp>
        <p:nvSpPr>
          <p:cNvPr id="6" name="TextBox 5"/>
          <p:cNvSpPr txBox="1"/>
          <p:nvPr/>
        </p:nvSpPr>
        <p:spPr>
          <a:xfrm>
            <a:off x="4932040" y="4365104"/>
            <a:ext cx="4032448" cy="1969770"/>
          </a:xfrm>
          <a:prstGeom prst="rect">
            <a:avLst/>
          </a:prstGeom>
          <a:noFill/>
        </p:spPr>
        <p:txBody>
          <a:bodyPr wrap="square" rtlCol="0">
            <a:spAutoFit/>
          </a:bodyPr>
          <a:lstStyle/>
          <a:p>
            <a:r>
              <a:rPr lang="en-US" sz="2400" b="1" dirty="0" smtClean="0"/>
              <a:t>            Mission :</a:t>
            </a:r>
            <a:endParaRPr lang="en-US" sz="2400" b="1" dirty="0" smtClean="0"/>
          </a:p>
          <a:p>
            <a:r>
              <a:rPr lang="en-US" sz="2000" dirty="0" smtClean="0"/>
              <a:t>"Skillfully </a:t>
            </a:r>
            <a:r>
              <a:rPr lang="en-US" sz="2000" dirty="0"/>
              <a:t>applying the fast growing technology to help the clients </a:t>
            </a:r>
            <a:r>
              <a:rPr lang="en-US" sz="2000" dirty="0" smtClean="0"/>
              <a:t>to improve </a:t>
            </a:r>
            <a:r>
              <a:rPr lang="en-US" sz="2000" dirty="0"/>
              <a:t>their business and grow together".</a:t>
            </a:r>
            <a:endParaRPr lang="en-US" sz="2000"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413a0c69df5d126b4e76335f752b3702.jpg"/>
          <p:cNvPicPr>
            <a:picLocks noChangeAspect="1"/>
          </p:cNvPicPr>
          <p:nvPr/>
        </p:nvPicPr>
        <p:blipFill>
          <a:blip r:embed="rId1" cstate="print"/>
          <a:stretch>
            <a:fillRect/>
          </a:stretch>
        </p:blipFill>
        <p:spPr>
          <a:xfrm>
            <a:off x="0" y="0"/>
            <a:ext cx="9147250" cy="6858000"/>
          </a:xfrm>
          <a:prstGeom prst="rect">
            <a:avLst/>
          </a:prstGeom>
        </p:spPr>
      </p:pic>
      <p:sp>
        <p:nvSpPr>
          <p:cNvPr id="2" name="Title 1"/>
          <p:cNvSpPr>
            <a:spLocks noGrp="1"/>
          </p:cNvSpPr>
          <p:nvPr>
            <p:ph type="title"/>
          </p:nvPr>
        </p:nvSpPr>
        <p:spPr/>
        <p:txBody>
          <a:bodyPr>
            <a:normAutofit/>
          </a:bodyPr>
          <a:lstStyle/>
          <a:p>
            <a:r>
              <a:rPr lang="en-IN" sz="3200" b="1" dirty="0" smtClean="0"/>
              <a:t>DEVELOPMENT</a:t>
            </a:r>
            <a:endParaRPr lang="en-US" sz="3200" b="1" dirty="0"/>
          </a:p>
        </p:txBody>
      </p:sp>
      <p:sp>
        <p:nvSpPr>
          <p:cNvPr id="3" name="Content Placeholder 2"/>
          <p:cNvSpPr>
            <a:spLocks noGrp="1"/>
          </p:cNvSpPr>
          <p:nvPr>
            <p:ph idx="1"/>
          </p:nvPr>
        </p:nvSpPr>
        <p:spPr/>
        <p:txBody>
          <a:bodyPr>
            <a:normAutofit/>
          </a:bodyPr>
          <a:lstStyle/>
          <a:p>
            <a:pPr algn="just"/>
            <a:r>
              <a:rPr lang="en-US" sz="2500" dirty="0" smtClean="0">
                <a:latin typeface="Arial Rounded MT Bold" panose="020F0704030504030204" pitchFamily="34" charset="0"/>
              </a:rPr>
              <a:t>Percept Infosystem work in PHP. We have smart Wordpress developers who can integrate  the designs and create the custom functionality.</a:t>
            </a:r>
            <a:endParaRPr lang="en-US" sz="2500" dirty="0" smtClean="0">
              <a:latin typeface="Arial Rounded MT Bold" panose="020F0704030504030204" pitchFamily="34" charset="0"/>
            </a:endParaRPr>
          </a:p>
          <a:p>
            <a:pPr algn="just"/>
            <a:r>
              <a:rPr lang="en-US" sz="2500" dirty="0" smtClean="0">
                <a:latin typeface="Arial Rounded MT Bold" panose="020F0704030504030204" pitchFamily="34" charset="0"/>
                <a:cs typeface="Arial" panose="020B0604020202020204" pitchFamily="34" charset="0"/>
              </a:rPr>
              <a:t>We offer complete PHP Development Services and web programming services. we develop custom php web application, portals, ecommerce solution, business processes using php, MYSQL, MVC framework, open source cms like word press, joomla, magneto, etc.</a:t>
            </a:r>
            <a:endParaRPr lang="en-US" sz="2500" dirty="0" smtClean="0">
              <a:latin typeface="Arial Rounded MT Bold" panose="020F0704030504030204" pitchFamily="34" charset="0"/>
              <a:cs typeface="Arial" panose="020B0604020202020204" pitchFamily="34" charset="0"/>
            </a:endParaRPr>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descr="413a0c69df5d126b4e76335f752b3702.jpg"/>
          <p:cNvPicPr>
            <a:picLocks noChangeAspect="1"/>
          </p:cNvPicPr>
          <p:nvPr/>
        </p:nvPicPr>
        <p:blipFill>
          <a:blip r:embed="rId1" cstate="print"/>
          <a:stretch>
            <a:fillRect/>
          </a:stretch>
        </p:blipFill>
        <p:spPr>
          <a:xfrm>
            <a:off x="0" y="0"/>
            <a:ext cx="9147250" cy="6858000"/>
          </a:xfrm>
          <a:prstGeom prst="rect">
            <a:avLst/>
          </a:prstGeom>
        </p:spPr>
      </p:pic>
      <p:sp>
        <p:nvSpPr>
          <p:cNvPr id="2" name="Title 1"/>
          <p:cNvSpPr>
            <a:spLocks noGrp="1"/>
          </p:cNvSpPr>
          <p:nvPr>
            <p:ph type="title"/>
          </p:nvPr>
        </p:nvSpPr>
        <p:spPr>
          <a:xfrm>
            <a:off x="457200" y="274638"/>
            <a:ext cx="8229600" cy="706090"/>
          </a:xfrm>
        </p:spPr>
        <p:txBody>
          <a:bodyPr>
            <a:normAutofit/>
          </a:bodyPr>
          <a:lstStyle/>
          <a:p>
            <a:r>
              <a:rPr lang="en-IN" sz="3200" b="1" dirty="0" smtClean="0"/>
              <a:t>Our Services</a:t>
            </a:r>
            <a:endParaRPr lang="en-US" sz="3200" b="1" dirty="0"/>
          </a:p>
        </p:txBody>
      </p:sp>
      <p:pic>
        <p:nvPicPr>
          <p:cNvPr id="14" name="Content Placeholder 13" descr="download (3).png"/>
          <p:cNvPicPr>
            <a:picLocks noGrp="1" noChangeAspect="1"/>
          </p:cNvPicPr>
          <p:nvPr>
            <p:ph idx="1"/>
          </p:nvPr>
        </p:nvPicPr>
        <p:blipFill>
          <a:blip r:embed="rId2" cstate="print"/>
          <a:srcRect l="22257" t="13249" r="25725" b="37661"/>
          <a:stretch>
            <a:fillRect/>
          </a:stretch>
        </p:blipFill>
        <p:spPr>
          <a:xfrm>
            <a:off x="1691680" y="1124744"/>
            <a:ext cx="1080120" cy="1080120"/>
          </a:xfrm>
        </p:spPr>
      </p:pic>
      <p:pic>
        <p:nvPicPr>
          <p:cNvPr id="15" name="Picture 14" descr="recruitment-service-icon-human-resources-staff-search-questionnaire-check-box-thin-stroke-concept-symbol-design-choose-candidate-134306638.jpg"/>
          <p:cNvPicPr>
            <a:picLocks noChangeAspect="1"/>
          </p:cNvPicPr>
          <p:nvPr/>
        </p:nvPicPr>
        <p:blipFill>
          <a:blip r:embed="rId3" cstate="print"/>
          <a:srcRect l="25615" t="15350" r="26724" b="40550"/>
          <a:stretch>
            <a:fillRect/>
          </a:stretch>
        </p:blipFill>
        <p:spPr>
          <a:xfrm>
            <a:off x="6516216" y="1196752"/>
            <a:ext cx="936104" cy="914334"/>
          </a:xfrm>
          <a:prstGeom prst="rect">
            <a:avLst/>
          </a:prstGeom>
        </p:spPr>
      </p:pic>
      <p:sp>
        <p:nvSpPr>
          <p:cNvPr id="19" name="TextBox 18"/>
          <p:cNvSpPr txBox="1"/>
          <p:nvPr/>
        </p:nvSpPr>
        <p:spPr>
          <a:xfrm>
            <a:off x="395536" y="2492896"/>
            <a:ext cx="3635896" cy="1477328"/>
          </a:xfrm>
          <a:prstGeom prst="rect">
            <a:avLst/>
          </a:prstGeom>
          <a:noFill/>
        </p:spPr>
        <p:txBody>
          <a:bodyPr wrap="square" rtlCol="0">
            <a:spAutoFit/>
          </a:bodyPr>
          <a:lstStyle/>
          <a:p>
            <a:pPr>
              <a:buFont typeface="Wingdings" panose="05000000000000000000" pitchFamily="2" charset="2"/>
              <a:buChar char="v"/>
            </a:pPr>
            <a:r>
              <a:rPr lang="en-US" sz="1500" dirty="0" smtClean="0"/>
              <a:t>  Software </a:t>
            </a:r>
            <a:r>
              <a:rPr lang="en-US" sz="1500" dirty="0" smtClean="0"/>
              <a:t>development is the process of conceiving, specifying, designing, programming, documenting, testing, and bug fixing involved in creating and maintaining applications, frameworks, or other software components.</a:t>
            </a:r>
            <a:endParaRPr lang="en-US" sz="1500" dirty="0"/>
          </a:p>
        </p:txBody>
      </p:sp>
      <p:sp>
        <p:nvSpPr>
          <p:cNvPr id="20" name="TextBox 19"/>
          <p:cNvSpPr txBox="1"/>
          <p:nvPr/>
        </p:nvSpPr>
        <p:spPr>
          <a:xfrm>
            <a:off x="5111552" y="2492896"/>
            <a:ext cx="4032448" cy="1938992"/>
          </a:xfrm>
          <a:prstGeom prst="rect">
            <a:avLst/>
          </a:prstGeom>
          <a:noFill/>
        </p:spPr>
        <p:txBody>
          <a:bodyPr wrap="square" rtlCol="0">
            <a:spAutoFit/>
          </a:bodyPr>
          <a:lstStyle/>
          <a:p>
            <a:pPr>
              <a:buFont typeface="Wingdings" panose="05000000000000000000" pitchFamily="2" charset="2"/>
              <a:buChar char="v"/>
            </a:pPr>
            <a:r>
              <a:rPr lang="en-US" sz="1500" dirty="0" smtClean="0"/>
              <a:t>  Recruitment </a:t>
            </a:r>
            <a:r>
              <a:rPr lang="en-US" sz="1500" dirty="0" smtClean="0"/>
              <a:t>is </a:t>
            </a:r>
            <a:r>
              <a:rPr lang="en-US" sz="1500" b="1" dirty="0" smtClean="0"/>
              <a:t>the overall process of identifying, sourcing, screening, </a:t>
            </a:r>
            <a:r>
              <a:rPr lang="en-US" sz="1500" b="1" dirty="0" smtClean="0"/>
              <a:t>shortlisting , </a:t>
            </a:r>
            <a:r>
              <a:rPr lang="en-US" sz="1500" b="1" dirty="0" smtClean="0"/>
              <a:t>and interviewing candidates for jobs .</a:t>
            </a:r>
            <a:endParaRPr lang="en-US" sz="1500" dirty="0" smtClean="0"/>
          </a:p>
          <a:p>
            <a:r>
              <a:rPr lang="en-US" sz="1500" dirty="0" smtClean="0"/>
              <a:t>We </a:t>
            </a:r>
            <a:r>
              <a:rPr lang="en-US" sz="1500" dirty="0" smtClean="0"/>
              <a:t>Percept Infosystem have Dedicated Placement Cell for Lifetime Recruitment Placement Support with a Network with leading Companies.</a:t>
            </a:r>
            <a:endParaRPr lang="en-US" sz="1500" dirty="0" smtClean="0"/>
          </a:p>
          <a:p>
            <a:endParaRPr lang="en-US" sz="1500" dirty="0"/>
          </a:p>
        </p:txBody>
      </p:sp>
      <p:pic>
        <p:nvPicPr>
          <p:cNvPr id="21" name="Content Placeholder 3" descr="detailhero-l-about-berlitzlearningcycle.jpg"/>
          <p:cNvPicPr>
            <a:picLocks noChangeAspect="1"/>
          </p:cNvPicPr>
          <p:nvPr/>
        </p:nvPicPr>
        <p:blipFill>
          <a:blip r:embed="rId4" cstate="print"/>
          <a:srcRect l="38975" r="35825" b="9449"/>
          <a:stretch>
            <a:fillRect/>
          </a:stretch>
        </p:blipFill>
        <p:spPr>
          <a:xfrm>
            <a:off x="3923928" y="4077072"/>
            <a:ext cx="810796" cy="792088"/>
          </a:xfrm>
          <a:prstGeom prst="rect">
            <a:avLst/>
          </a:prstGeom>
        </p:spPr>
      </p:pic>
      <p:sp>
        <p:nvSpPr>
          <p:cNvPr id="22" name="TextBox 21"/>
          <p:cNvSpPr txBox="1"/>
          <p:nvPr/>
        </p:nvSpPr>
        <p:spPr>
          <a:xfrm>
            <a:off x="1835696" y="5157192"/>
            <a:ext cx="5328592" cy="1877437"/>
          </a:xfrm>
          <a:prstGeom prst="rect">
            <a:avLst/>
          </a:prstGeom>
          <a:noFill/>
        </p:spPr>
        <p:txBody>
          <a:bodyPr wrap="square" rtlCol="0">
            <a:spAutoFit/>
          </a:bodyPr>
          <a:lstStyle/>
          <a:p>
            <a:pPr>
              <a:buFont typeface="Wingdings" panose="05000000000000000000" pitchFamily="2" charset="2"/>
              <a:buChar char="v"/>
            </a:pPr>
            <a:r>
              <a:rPr lang="en-US" sz="1400" dirty="0" smtClean="0"/>
              <a:t>  We </a:t>
            </a:r>
            <a:r>
              <a:rPr lang="en-US" sz="1400" dirty="0" smtClean="0"/>
              <a:t>Percept Infosystem are committed to provide you the best solution in digital marketing, SEO, SMO and also best support in the industry.</a:t>
            </a:r>
            <a:endParaRPr lang="en-US" sz="1400" dirty="0" smtClean="0"/>
          </a:p>
          <a:p>
            <a:r>
              <a:rPr lang="en-US" sz="1400" dirty="0" smtClean="0"/>
              <a:t>We have expertise in Search Engine Optimization (SEO), Search engine marketing (SEM), Social Branding and online marketing solutions. Our online marketing strategies ensure the maximum exposure of your website.</a:t>
            </a:r>
            <a:endParaRPr lang="en-US" sz="1400" dirty="0" smtClean="0"/>
          </a:p>
          <a:p>
            <a:endParaRPr lang="en-US" dirty="0"/>
          </a:p>
        </p:txBody>
      </p:sp>
      <p:sp>
        <p:nvSpPr>
          <p:cNvPr id="23" name="TextBox 22"/>
          <p:cNvSpPr txBox="1"/>
          <p:nvPr/>
        </p:nvSpPr>
        <p:spPr>
          <a:xfrm>
            <a:off x="827584" y="2060848"/>
            <a:ext cx="2880320" cy="369332"/>
          </a:xfrm>
          <a:prstGeom prst="rect">
            <a:avLst/>
          </a:prstGeom>
          <a:noFill/>
        </p:spPr>
        <p:txBody>
          <a:bodyPr wrap="square" rtlCol="0">
            <a:spAutoFit/>
          </a:bodyPr>
          <a:lstStyle/>
          <a:p>
            <a:r>
              <a:rPr lang="en-IN" b="1" dirty="0" smtClean="0"/>
              <a:t>SOFTWARE DEVELOPMENT</a:t>
            </a:r>
            <a:endParaRPr lang="en-US" b="1" dirty="0"/>
          </a:p>
        </p:txBody>
      </p:sp>
      <p:sp>
        <p:nvSpPr>
          <p:cNvPr id="24" name="TextBox 23"/>
          <p:cNvSpPr txBox="1"/>
          <p:nvPr/>
        </p:nvSpPr>
        <p:spPr>
          <a:xfrm>
            <a:off x="5796136" y="2060848"/>
            <a:ext cx="2592288" cy="369332"/>
          </a:xfrm>
          <a:prstGeom prst="rect">
            <a:avLst/>
          </a:prstGeom>
          <a:noFill/>
        </p:spPr>
        <p:txBody>
          <a:bodyPr wrap="square" rtlCol="0">
            <a:spAutoFit/>
          </a:bodyPr>
          <a:lstStyle/>
          <a:p>
            <a:r>
              <a:rPr lang="en-IN" b="1" dirty="0" smtClean="0"/>
              <a:t>RECRUITMENT SERVICE</a:t>
            </a:r>
            <a:endParaRPr lang="en-US" b="1" dirty="0"/>
          </a:p>
        </p:txBody>
      </p:sp>
      <p:sp>
        <p:nvSpPr>
          <p:cNvPr id="25" name="TextBox 24"/>
          <p:cNvSpPr txBox="1"/>
          <p:nvPr/>
        </p:nvSpPr>
        <p:spPr>
          <a:xfrm>
            <a:off x="2843808" y="4797152"/>
            <a:ext cx="3240360" cy="369332"/>
          </a:xfrm>
          <a:prstGeom prst="rect">
            <a:avLst/>
          </a:prstGeom>
          <a:noFill/>
        </p:spPr>
        <p:txBody>
          <a:bodyPr wrap="square" rtlCol="0">
            <a:spAutoFit/>
          </a:bodyPr>
          <a:lstStyle/>
          <a:p>
            <a:r>
              <a:rPr lang="en-IN" b="1" dirty="0" smtClean="0"/>
              <a:t>DIGITAL MARKETING SERVICES</a:t>
            </a:r>
            <a:endParaRPr lang="en-US"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413a0c69df5d126b4e76335f752b3702.jpg"/>
          <p:cNvPicPr>
            <a:picLocks noChangeAspect="1"/>
          </p:cNvPicPr>
          <p:nvPr/>
        </p:nvPicPr>
        <p:blipFill>
          <a:blip r:embed="rId1" cstate="print"/>
          <a:stretch>
            <a:fillRect/>
          </a:stretch>
        </p:blipFill>
        <p:spPr>
          <a:xfrm>
            <a:off x="0" y="0"/>
            <a:ext cx="9147250" cy="6858000"/>
          </a:xfrm>
          <a:prstGeom prst="rect">
            <a:avLst/>
          </a:prstGeom>
        </p:spPr>
      </p:pic>
      <p:pic>
        <p:nvPicPr>
          <p:cNvPr id="5" name="Picture 4" descr="360_F_165996128_BH9hqy2eZWTYTeRocyHRc8AKTfn9PfiR.jpg"/>
          <p:cNvPicPr>
            <a:picLocks noChangeAspect="1"/>
          </p:cNvPicPr>
          <p:nvPr/>
        </p:nvPicPr>
        <p:blipFill>
          <a:blip r:embed="rId2" cstate="print"/>
          <a:stretch>
            <a:fillRect/>
          </a:stretch>
        </p:blipFill>
        <p:spPr>
          <a:xfrm>
            <a:off x="1259632" y="188640"/>
            <a:ext cx="1224136" cy="1224136"/>
          </a:xfrm>
          <a:prstGeom prst="rect">
            <a:avLst/>
          </a:prstGeom>
        </p:spPr>
      </p:pic>
      <p:pic>
        <p:nvPicPr>
          <p:cNvPr id="6" name="Picture 5" descr="Digital-Marketing-Logo-Graphics-3472162-1-580x376.png"/>
          <p:cNvPicPr>
            <a:picLocks noChangeAspect="1"/>
          </p:cNvPicPr>
          <p:nvPr/>
        </p:nvPicPr>
        <p:blipFill>
          <a:blip r:embed="rId3" cstate="print"/>
          <a:srcRect l="34358" t="13809" r="34359" b="37937"/>
          <a:stretch>
            <a:fillRect/>
          </a:stretch>
        </p:blipFill>
        <p:spPr>
          <a:xfrm>
            <a:off x="6156176" y="332656"/>
            <a:ext cx="864096" cy="864096"/>
          </a:xfrm>
          <a:prstGeom prst="rect">
            <a:avLst/>
          </a:prstGeom>
        </p:spPr>
      </p:pic>
      <p:sp>
        <p:nvSpPr>
          <p:cNvPr id="8" name="TextBox 7"/>
          <p:cNvSpPr txBox="1"/>
          <p:nvPr/>
        </p:nvSpPr>
        <p:spPr>
          <a:xfrm>
            <a:off x="179512" y="1556792"/>
            <a:ext cx="4320480" cy="4555093"/>
          </a:xfrm>
          <a:prstGeom prst="rect">
            <a:avLst/>
          </a:prstGeom>
          <a:noFill/>
        </p:spPr>
        <p:txBody>
          <a:bodyPr wrap="square" rtlCol="0">
            <a:spAutoFit/>
          </a:bodyPr>
          <a:lstStyle/>
          <a:p>
            <a:pPr>
              <a:buFont typeface="Wingdings" panose="05000000000000000000" pitchFamily="2" charset="2"/>
              <a:buChar char="v"/>
            </a:pPr>
            <a:r>
              <a:rPr lang="en-US" sz="1600" dirty="0" smtClean="0"/>
              <a:t>  We </a:t>
            </a:r>
            <a:r>
              <a:rPr lang="en-US" sz="1600" dirty="0" smtClean="0"/>
              <a:t>customize the training needs of various corporate in Nagpur. It is my pleasure to introduce Percept Info system is renowned  training provider, well known for providing quality Training in advance fields such </a:t>
            </a:r>
            <a:r>
              <a:rPr lang="en-US" sz="1600" dirty="0" smtClean="0"/>
              <a:t>as</a:t>
            </a:r>
            <a:endParaRPr lang="en-US" sz="1600" dirty="0" smtClean="0"/>
          </a:p>
          <a:p>
            <a:r>
              <a:rPr lang="en-US" sz="1600" dirty="0" smtClean="0"/>
              <a:t> PHP</a:t>
            </a:r>
            <a:endParaRPr lang="en-US" sz="1600" dirty="0" smtClean="0"/>
          </a:p>
          <a:p>
            <a:pPr lvl="0" fontAlgn="base"/>
            <a:r>
              <a:rPr lang="en-US" sz="1600" dirty="0" smtClean="0"/>
              <a:t>Dot Net</a:t>
            </a:r>
            <a:endParaRPr lang="en-US" sz="1600" dirty="0" smtClean="0"/>
          </a:p>
          <a:p>
            <a:pPr lvl="0" fontAlgn="base"/>
            <a:r>
              <a:rPr lang="en-US" sz="1600" dirty="0" smtClean="0"/>
              <a:t>Java</a:t>
            </a:r>
            <a:endParaRPr lang="en-US" sz="1600" dirty="0" smtClean="0"/>
          </a:p>
          <a:p>
            <a:pPr lvl="0" fontAlgn="base"/>
            <a:r>
              <a:rPr lang="en-US" sz="1600" dirty="0" smtClean="0"/>
              <a:t>Software Testing</a:t>
            </a:r>
            <a:endParaRPr lang="en-US" sz="1600" dirty="0" smtClean="0"/>
          </a:p>
          <a:p>
            <a:pPr lvl="0" fontAlgn="base"/>
            <a:r>
              <a:rPr lang="en-US" sz="1600" dirty="0" smtClean="0"/>
              <a:t>Digital </a:t>
            </a:r>
            <a:r>
              <a:rPr lang="en-US" sz="1600" dirty="0" smtClean="0"/>
              <a:t>Marketing</a:t>
            </a:r>
            <a:endParaRPr lang="en-US" sz="1600" dirty="0" smtClean="0"/>
          </a:p>
          <a:p>
            <a:pPr lvl="0" fontAlgn="base"/>
            <a:r>
              <a:rPr lang="en-US" sz="1600" dirty="0" smtClean="0"/>
              <a:t>Web Designing</a:t>
            </a:r>
            <a:endParaRPr lang="en-US" sz="1600" dirty="0" smtClean="0"/>
          </a:p>
          <a:p>
            <a:pPr lvl="0" fontAlgn="base"/>
            <a:r>
              <a:rPr lang="en-US" sz="1600" dirty="0" smtClean="0"/>
              <a:t>Graphic Designing</a:t>
            </a:r>
            <a:endParaRPr lang="en-US" sz="1600" dirty="0" smtClean="0"/>
          </a:p>
          <a:p>
            <a:pPr lvl="0" fontAlgn="base"/>
            <a:r>
              <a:rPr lang="en-US" sz="1600" dirty="0" smtClean="0"/>
              <a:t>Android</a:t>
            </a:r>
            <a:endParaRPr lang="en-US" sz="1600" dirty="0" smtClean="0"/>
          </a:p>
          <a:p>
            <a:pPr lvl="0" fontAlgn="base"/>
            <a:r>
              <a:rPr lang="en-US" sz="1600" dirty="0" smtClean="0"/>
              <a:t>Python</a:t>
            </a:r>
            <a:endParaRPr lang="en-US" sz="1600" dirty="0" smtClean="0"/>
          </a:p>
          <a:p>
            <a:pPr lvl="0" fontAlgn="base"/>
            <a:r>
              <a:rPr lang="en-US" sz="1600" dirty="0" smtClean="0"/>
              <a:t>HR Training</a:t>
            </a:r>
            <a:endParaRPr lang="en-US" sz="1600" dirty="0" smtClean="0"/>
          </a:p>
          <a:p>
            <a:r>
              <a:rPr lang="en-US" sz="1600" dirty="0" smtClean="0"/>
              <a:t> </a:t>
            </a:r>
            <a:endParaRPr lang="en-US" sz="1600" dirty="0" smtClean="0"/>
          </a:p>
          <a:p>
            <a:endParaRPr lang="en-US" dirty="0"/>
          </a:p>
        </p:txBody>
      </p:sp>
      <p:sp>
        <p:nvSpPr>
          <p:cNvPr id="10" name="TextBox 9"/>
          <p:cNvSpPr txBox="1"/>
          <p:nvPr/>
        </p:nvSpPr>
        <p:spPr>
          <a:xfrm>
            <a:off x="5940152" y="2132856"/>
            <a:ext cx="2736304" cy="369332"/>
          </a:xfrm>
          <a:prstGeom prst="rect">
            <a:avLst/>
          </a:prstGeom>
          <a:noFill/>
        </p:spPr>
        <p:txBody>
          <a:bodyPr wrap="square" rtlCol="0">
            <a:spAutoFit/>
          </a:bodyPr>
          <a:lstStyle/>
          <a:p>
            <a:endParaRPr lang="en-US" dirty="0"/>
          </a:p>
        </p:txBody>
      </p:sp>
      <p:sp>
        <p:nvSpPr>
          <p:cNvPr id="12" name="TextBox 11"/>
          <p:cNvSpPr txBox="1"/>
          <p:nvPr/>
        </p:nvSpPr>
        <p:spPr>
          <a:xfrm>
            <a:off x="4572000" y="1587564"/>
            <a:ext cx="4320480" cy="5016758"/>
          </a:xfrm>
          <a:prstGeom prst="rect">
            <a:avLst/>
          </a:prstGeom>
          <a:noFill/>
        </p:spPr>
        <p:txBody>
          <a:bodyPr wrap="square" rtlCol="0">
            <a:spAutoFit/>
          </a:bodyPr>
          <a:lstStyle/>
          <a:p>
            <a:pPr>
              <a:buFont typeface="Wingdings" panose="05000000000000000000" pitchFamily="2" charset="2"/>
              <a:buChar char="v"/>
            </a:pPr>
            <a:r>
              <a:rPr lang="en-US" sz="1600" dirty="0" smtClean="0"/>
              <a:t> Payroll </a:t>
            </a:r>
            <a:r>
              <a:rPr lang="en-US" sz="1600" dirty="0" smtClean="0"/>
              <a:t>Services offered by </a:t>
            </a:r>
            <a:r>
              <a:rPr lang="en-US" sz="1600" dirty="0" smtClean="0"/>
              <a:t>Percept Infosystem</a:t>
            </a:r>
            <a:endParaRPr lang="en-US" sz="1600" dirty="0" smtClean="0"/>
          </a:p>
          <a:p>
            <a:pPr>
              <a:buFont typeface="Arial" panose="020B0604020202020204" pitchFamily="34" charset="0"/>
              <a:buChar char="•"/>
            </a:pPr>
            <a:r>
              <a:rPr lang="en-US" sz="1600" dirty="0" smtClean="0"/>
              <a:t> Employee Management</a:t>
            </a:r>
            <a:endParaRPr lang="en-US" sz="1600" dirty="0" smtClean="0"/>
          </a:p>
          <a:p>
            <a:pPr>
              <a:buFont typeface="Arial" panose="020B0604020202020204" pitchFamily="34" charset="0"/>
              <a:buChar char="•"/>
            </a:pPr>
            <a:r>
              <a:rPr lang="en-US" sz="1600" dirty="0" smtClean="0"/>
              <a:t>  Salary Management</a:t>
            </a:r>
            <a:endParaRPr lang="en-US" sz="1600" dirty="0" smtClean="0"/>
          </a:p>
          <a:p>
            <a:pPr>
              <a:buFont typeface="Arial" panose="020B0604020202020204" pitchFamily="34" charset="0"/>
              <a:buChar char="•"/>
            </a:pPr>
            <a:r>
              <a:rPr lang="en-US" sz="1600" dirty="0" smtClean="0"/>
              <a:t>  Leave Management</a:t>
            </a:r>
            <a:endParaRPr lang="en-US" sz="1600" dirty="0" smtClean="0"/>
          </a:p>
          <a:p>
            <a:pPr>
              <a:buFont typeface="Arial" panose="020B0604020202020204" pitchFamily="34" charset="0"/>
              <a:buChar char="•"/>
            </a:pPr>
            <a:r>
              <a:rPr lang="en-US" sz="1600" dirty="0" smtClean="0"/>
              <a:t>  PF/ESIC/PT returns</a:t>
            </a:r>
            <a:endParaRPr lang="en-US" sz="1600" dirty="0" smtClean="0"/>
          </a:p>
          <a:p>
            <a:pPr>
              <a:buFont typeface="Arial" panose="020B0604020202020204" pitchFamily="34" charset="0"/>
              <a:buChar char="•"/>
            </a:pPr>
            <a:r>
              <a:rPr lang="en-US" sz="1600" dirty="0" smtClean="0"/>
              <a:t>  Calculating </a:t>
            </a:r>
            <a:r>
              <a:rPr lang="en-US" sz="1600" dirty="0" smtClean="0"/>
              <a:t>Paychecks and Tax Obligations based on Employee Time</a:t>
            </a:r>
            <a:endParaRPr lang="en-US" sz="1600" dirty="0" smtClean="0"/>
          </a:p>
          <a:p>
            <a:pPr>
              <a:buFont typeface="Arial" panose="020B0604020202020204" pitchFamily="34" charset="0"/>
              <a:buChar char="•"/>
            </a:pPr>
            <a:r>
              <a:rPr lang="en-US" sz="1600" dirty="0" smtClean="0"/>
              <a:t>  Sheets.</a:t>
            </a:r>
            <a:endParaRPr lang="en-US" sz="1600" dirty="0" smtClean="0"/>
          </a:p>
          <a:p>
            <a:pPr>
              <a:buFont typeface="Arial" panose="020B0604020202020204" pitchFamily="34" charset="0"/>
              <a:buChar char="•"/>
            </a:pPr>
            <a:r>
              <a:rPr lang="en-US" sz="1600" dirty="0" smtClean="0"/>
              <a:t>  Access </a:t>
            </a:r>
            <a:r>
              <a:rPr lang="en-US" sz="1600" dirty="0" smtClean="0"/>
              <a:t>to accurate and timely pay </a:t>
            </a:r>
            <a:r>
              <a:rPr lang="en-US" sz="1600" dirty="0" smtClean="0"/>
              <a:t>slips</a:t>
            </a:r>
            <a:endParaRPr lang="en-US" sz="1600" dirty="0" smtClean="0"/>
          </a:p>
          <a:p>
            <a:pPr>
              <a:buFont typeface="Arial" panose="020B0604020202020204" pitchFamily="34" charset="0"/>
              <a:buChar char="•"/>
            </a:pPr>
            <a:r>
              <a:rPr lang="en-US" sz="1600" dirty="0" smtClean="0"/>
              <a:t>  Escalating </a:t>
            </a:r>
            <a:r>
              <a:rPr lang="en-US" sz="1600" dirty="0" smtClean="0"/>
              <a:t>cost due to in-house payroll </a:t>
            </a:r>
            <a:r>
              <a:rPr lang="en-US" sz="1600" dirty="0" smtClean="0"/>
              <a:t>maintenance</a:t>
            </a:r>
            <a:endParaRPr lang="en-US" sz="1600" dirty="0" smtClean="0"/>
          </a:p>
          <a:p>
            <a:pPr>
              <a:buFont typeface="Arial" panose="020B0604020202020204" pitchFamily="34" charset="0"/>
              <a:buChar char="•"/>
            </a:pPr>
            <a:r>
              <a:rPr lang="en-US" sz="1600" dirty="0" smtClean="0"/>
              <a:t>  Security </a:t>
            </a:r>
            <a:r>
              <a:rPr lang="en-US" sz="1600" dirty="0" smtClean="0"/>
              <a:t>and confidentiality of payroll and employee </a:t>
            </a:r>
            <a:r>
              <a:rPr lang="en-US" sz="1600" dirty="0" smtClean="0"/>
              <a:t>data</a:t>
            </a:r>
            <a:endParaRPr lang="en-US" sz="1600" dirty="0" smtClean="0"/>
          </a:p>
          <a:p>
            <a:pPr>
              <a:buFont typeface="Arial" panose="020B0604020202020204" pitchFamily="34" charset="0"/>
              <a:buChar char="•"/>
            </a:pPr>
            <a:r>
              <a:rPr lang="en-US" sz="1600" dirty="0" smtClean="0"/>
              <a:t>  Compliance </a:t>
            </a:r>
            <a:r>
              <a:rPr lang="en-US" sz="1600" dirty="0" smtClean="0"/>
              <a:t>with the latest laws </a:t>
            </a:r>
            <a:r>
              <a:rPr lang="en-US" sz="1600" dirty="0" smtClean="0"/>
              <a:t>and regulations</a:t>
            </a:r>
            <a:endParaRPr lang="en-US" sz="1600" dirty="0" smtClean="0"/>
          </a:p>
          <a:p>
            <a:pPr>
              <a:buFont typeface="Arial" panose="020B0604020202020204" pitchFamily="34" charset="0"/>
              <a:buChar char="•"/>
            </a:pPr>
            <a:r>
              <a:rPr lang="en-US" sz="1600" dirty="0" smtClean="0"/>
              <a:t>  Access </a:t>
            </a:r>
            <a:r>
              <a:rPr lang="en-US" sz="1600" dirty="0" smtClean="0"/>
              <a:t>to accurate and timely pay </a:t>
            </a:r>
            <a:r>
              <a:rPr lang="en-US" sz="1600" dirty="0" smtClean="0"/>
              <a:t>slips</a:t>
            </a:r>
            <a:endParaRPr lang="en-US" sz="1600" dirty="0" smtClean="0"/>
          </a:p>
          <a:p>
            <a:pPr>
              <a:buFont typeface="Arial" panose="020B0604020202020204" pitchFamily="34" charset="0"/>
              <a:buChar char="•"/>
            </a:pPr>
            <a:r>
              <a:rPr lang="en-US" sz="1600" dirty="0" smtClean="0"/>
              <a:t>  Escalating </a:t>
            </a:r>
            <a:r>
              <a:rPr lang="en-US" sz="1600" dirty="0" smtClean="0"/>
              <a:t>cost due to in-house payroll </a:t>
            </a:r>
            <a:r>
              <a:rPr lang="en-US" sz="1600" dirty="0" smtClean="0"/>
              <a:t>maintenance</a:t>
            </a:r>
            <a:endParaRPr lang="en-US" sz="1600" dirty="0" smtClean="0"/>
          </a:p>
          <a:p>
            <a:pPr>
              <a:buFont typeface="Arial" panose="020B0604020202020204" pitchFamily="34" charset="0"/>
              <a:buChar char="•"/>
            </a:pPr>
            <a:r>
              <a:rPr lang="en-US" sz="1600" dirty="0" smtClean="0"/>
              <a:t>  Security </a:t>
            </a:r>
            <a:r>
              <a:rPr lang="en-US" sz="1600" dirty="0" smtClean="0"/>
              <a:t>and confidentiality of payroll and employee </a:t>
            </a:r>
            <a:r>
              <a:rPr lang="en-US" sz="1600" dirty="0" smtClean="0"/>
              <a:t>data</a:t>
            </a:r>
            <a:endParaRPr lang="en-US" sz="1600" dirty="0" smtClean="0"/>
          </a:p>
          <a:p>
            <a:pPr>
              <a:buFont typeface="Arial" panose="020B0604020202020204" pitchFamily="34" charset="0"/>
              <a:buChar char="•"/>
            </a:pPr>
            <a:r>
              <a:rPr lang="en-US" sz="1600" dirty="0" smtClean="0"/>
              <a:t>  Compliance </a:t>
            </a:r>
            <a:r>
              <a:rPr lang="en-US" sz="1600" dirty="0" smtClean="0"/>
              <a:t>with the latest laws and regulations</a:t>
            </a:r>
            <a:endParaRPr lang="en-US" sz="1600" dirty="0"/>
          </a:p>
        </p:txBody>
      </p:sp>
      <p:sp>
        <p:nvSpPr>
          <p:cNvPr id="13" name="TextBox 12"/>
          <p:cNvSpPr txBox="1"/>
          <p:nvPr/>
        </p:nvSpPr>
        <p:spPr>
          <a:xfrm>
            <a:off x="755576" y="1268760"/>
            <a:ext cx="2736304" cy="369332"/>
          </a:xfrm>
          <a:prstGeom prst="rect">
            <a:avLst/>
          </a:prstGeom>
          <a:noFill/>
        </p:spPr>
        <p:txBody>
          <a:bodyPr wrap="square" rtlCol="0">
            <a:spAutoFit/>
          </a:bodyPr>
          <a:lstStyle/>
          <a:p>
            <a:r>
              <a:rPr lang="en-IN" b="1" dirty="0" smtClean="0"/>
              <a:t>SOFTWARE TRAINING</a:t>
            </a:r>
            <a:endParaRPr lang="en-US" b="1" dirty="0"/>
          </a:p>
        </p:txBody>
      </p:sp>
      <p:sp>
        <p:nvSpPr>
          <p:cNvPr id="14" name="TextBox 13"/>
          <p:cNvSpPr txBox="1"/>
          <p:nvPr/>
        </p:nvSpPr>
        <p:spPr>
          <a:xfrm>
            <a:off x="5652120" y="1268760"/>
            <a:ext cx="2304256" cy="369332"/>
          </a:xfrm>
          <a:prstGeom prst="rect">
            <a:avLst/>
          </a:prstGeom>
          <a:noFill/>
        </p:spPr>
        <p:txBody>
          <a:bodyPr wrap="square" rtlCol="0">
            <a:spAutoFit/>
          </a:bodyPr>
          <a:lstStyle/>
          <a:p>
            <a:r>
              <a:rPr lang="en-IN" b="1" dirty="0" smtClean="0"/>
              <a:t>PAYROLL SERVICES</a:t>
            </a:r>
            <a:endParaRPr lang="en-US"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413a0c69df5d126b4e76335f752b3702.jpg"/>
          <p:cNvPicPr>
            <a:picLocks noChangeAspect="1"/>
          </p:cNvPicPr>
          <p:nvPr/>
        </p:nvPicPr>
        <p:blipFill>
          <a:blip r:embed="rId1" cstate="print"/>
          <a:stretch>
            <a:fillRect/>
          </a:stretch>
        </p:blipFill>
        <p:spPr>
          <a:xfrm>
            <a:off x="0" y="0"/>
            <a:ext cx="9147250" cy="6858000"/>
          </a:xfrm>
          <a:prstGeom prst="rect">
            <a:avLst/>
          </a:prstGeom>
        </p:spPr>
      </p:pic>
      <p:sp>
        <p:nvSpPr>
          <p:cNvPr id="2" name="Title 1"/>
          <p:cNvSpPr>
            <a:spLocks noGrp="1"/>
          </p:cNvSpPr>
          <p:nvPr>
            <p:ph type="title"/>
          </p:nvPr>
        </p:nvSpPr>
        <p:spPr/>
        <p:txBody>
          <a:bodyPr>
            <a:normAutofit/>
          </a:bodyPr>
          <a:lstStyle/>
          <a:p>
            <a:r>
              <a:rPr lang="en-IN" sz="3200" b="1" dirty="0" smtClean="0"/>
              <a:t>TRAINING COURSE</a:t>
            </a:r>
            <a:endParaRPr lang="en-US" sz="3200" b="1" dirty="0"/>
          </a:p>
        </p:txBody>
      </p:sp>
      <p:sp>
        <p:nvSpPr>
          <p:cNvPr id="3" name="Content Placeholder 2"/>
          <p:cNvSpPr>
            <a:spLocks noGrp="1"/>
          </p:cNvSpPr>
          <p:nvPr>
            <p:ph idx="1"/>
          </p:nvPr>
        </p:nvSpPr>
        <p:spPr>
          <a:xfrm>
            <a:off x="457200" y="1412776"/>
            <a:ext cx="8229600" cy="4713387"/>
          </a:xfrm>
        </p:spPr>
        <p:txBody>
          <a:bodyPr>
            <a:noAutofit/>
          </a:bodyPr>
          <a:lstStyle/>
          <a:p>
            <a:pPr>
              <a:buFont typeface="Wingdings" panose="05000000000000000000" pitchFamily="2" charset="2"/>
              <a:buChar char="q"/>
            </a:pPr>
            <a:r>
              <a:rPr lang="en-US" sz="1800" dirty="0" smtClean="0"/>
              <a:t> </a:t>
            </a:r>
            <a:r>
              <a:rPr lang="en-US" sz="2200" dirty="0" smtClean="0"/>
              <a:t>PHP</a:t>
            </a:r>
            <a:endParaRPr lang="en-US" sz="2200" dirty="0" smtClean="0"/>
          </a:p>
          <a:p>
            <a:pPr>
              <a:buFont typeface="Wingdings" panose="05000000000000000000" pitchFamily="2" charset="2"/>
              <a:buChar char="q"/>
            </a:pPr>
            <a:r>
              <a:rPr lang="en-US" sz="2200" dirty="0" smtClean="0"/>
              <a:t>.</a:t>
            </a:r>
            <a:r>
              <a:rPr lang="en-US" sz="2200" dirty="0" smtClean="0"/>
              <a:t>NET</a:t>
            </a:r>
            <a:endParaRPr lang="en-US" sz="2200" dirty="0" smtClean="0"/>
          </a:p>
          <a:p>
            <a:pPr>
              <a:buFont typeface="Wingdings" panose="05000000000000000000" pitchFamily="2" charset="2"/>
              <a:buChar char="q"/>
            </a:pPr>
            <a:r>
              <a:rPr lang="en-US" sz="2200" dirty="0" smtClean="0"/>
              <a:t>Java</a:t>
            </a:r>
            <a:endParaRPr lang="en-US" sz="2200" dirty="0" smtClean="0"/>
          </a:p>
          <a:p>
            <a:pPr>
              <a:buFont typeface="Wingdings" panose="05000000000000000000" pitchFamily="2" charset="2"/>
              <a:buChar char="q"/>
            </a:pPr>
            <a:r>
              <a:rPr lang="en-US" sz="2200" dirty="0" smtClean="0"/>
              <a:t>Software </a:t>
            </a:r>
            <a:r>
              <a:rPr lang="en-US" sz="2200" dirty="0" smtClean="0"/>
              <a:t>Testing</a:t>
            </a:r>
            <a:endParaRPr lang="en-US" sz="2200" dirty="0" smtClean="0"/>
          </a:p>
          <a:p>
            <a:pPr>
              <a:buFont typeface="Wingdings" panose="05000000000000000000" pitchFamily="2" charset="2"/>
              <a:buChar char="q"/>
            </a:pPr>
            <a:r>
              <a:rPr lang="en-US" sz="2200" dirty="0" smtClean="0"/>
              <a:t>Digital </a:t>
            </a:r>
            <a:r>
              <a:rPr lang="en-US" sz="2200" dirty="0" smtClean="0"/>
              <a:t>Marketing</a:t>
            </a:r>
            <a:endParaRPr lang="en-US" sz="2200" dirty="0" smtClean="0"/>
          </a:p>
          <a:p>
            <a:pPr>
              <a:buFont typeface="Wingdings" panose="05000000000000000000" pitchFamily="2" charset="2"/>
              <a:buChar char="q"/>
            </a:pPr>
            <a:r>
              <a:rPr lang="en-US" sz="2200" dirty="0" smtClean="0"/>
              <a:t>Web </a:t>
            </a:r>
            <a:r>
              <a:rPr lang="en-US" sz="2200" dirty="0" smtClean="0"/>
              <a:t>Designing</a:t>
            </a:r>
            <a:endParaRPr lang="en-US" sz="2200" dirty="0" smtClean="0"/>
          </a:p>
          <a:p>
            <a:pPr>
              <a:buFont typeface="Wingdings" panose="05000000000000000000" pitchFamily="2" charset="2"/>
              <a:buChar char="q"/>
            </a:pPr>
            <a:r>
              <a:rPr lang="en-US" sz="2200" dirty="0" smtClean="0"/>
              <a:t>Graphic </a:t>
            </a:r>
            <a:r>
              <a:rPr lang="en-US" sz="2200" dirty="0" smtClean="0"/>
              <a:t>Designing</a:t>
            </a:r>
            <a:endParaRPr lang="en-US" sz="2200" dirty="0" smtClean="0"/>
          </a:p>
          <a:p>
            <a:pPr>
              <a:buFont typeface="Wingdings" panose="05000000000000000000" pitchFamily="2" charset="2"/>
              <a:buChar char="q"/>
            </a:pPr>
            <a:r>
              <a:rPr lang="en-US" sz="2200" dirty="0" smtClean="0"/>
              <a:t>Android</a:t>
            </a:r>
            <a:endParaRPr lang="en-US" sz="2200" dirty="0" smtClean="0"/>
          </a:p>
          <a:p>
            <a:pPr>
              <a:buFont typeface="Wingdings" panose="05000000000000000000" pitchFamily="2" charset="2"/>
              <a:buChar char="q"/>
            </a:pPr>
            <a:r>
              <a:rPr lang="en-US" sz="2200" dirty="0" smtClean="0"/>
              <a:t>Auto </a:t>
            </a:r>
            <a:r>
              <a:rPr lang="en-US" sz="2200" dirty="0" smtClean="0"/>
              <a:t>CAD</a:t>
            </a:r>
            <a:endParaRPr lang="en-US" sz="2200" dirty="0" smtClean="0"/>
          </a:p>
          <a:p>
            <a:pPr>
              <a:buFont typeface="Wingdings" panose="05000000000000000000" pitchFamily="2" charset="2"/>
              <a:buChar char="q"/>
            </a:pPr>
            <a:r>
              <a:rPr lang="en-US" sz="2200" dirty="0" smtClean="0"/>
              <a:t>Catia</a:t>
            </a:r>
            <a:endParaRPr lang="en-US" sz="2200" dirty="0" smtClean="0"/>
          </a:p>
          <a:p>
            <a:pPr>
              <a:buFont typeface="Wingdings" panose="05000000000000000000" pitchFamily="2" charset="2"/>
              <a:buChar char="q"/>
            </a:pPr>
            <a:r>
              <a:rPr lang="en-US" sz="2200" dirty="0" smtClean="0"/>
              <a:t>Python</a:t>
            </a:r>
            <a:endParaRPr lang="en-US" sz="2200" dirty="0" smtClean="0"/>
          </a:p>
          <a:p>
            <a:pPr>
              <a:buFont typeface="Wingdings" panose="05000000000000000000" pitchFamily="2" charset="2"/>
              <a:buChar char="q"/>
            </a:pPr>
            <a:r>
              <a:rPr lang="en-US" sz="2200" dirty="0" smtClean="0"/>
              <a:t>HR Training</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413a0c69df5d126b4e76335f752b3702.jpg"/>
          <p:cNvPicPr>
            <a:picLocks noChangeAspect="1"/>
          </p:cNvPicPr>
          <p:nvPr/>
        </p:nvPicPr>
        <p:blipFill>
          <a:blip r:embed="rId1" cstate="print"/>
          <a:stretch>
            <a:fillRect/>
          </a:stretch>
        </p:blipFill>
        <p:spPr>
          <a:xfrm>
            <a:off x="0" y="0"/>
            <a:ext cx="9147250" cy="6858000"/>
          </a:xfrm>
          <a:prstGeom prst="rect">
            <a:avLst/>
          </a:prstGeom>
        </p:spPr>
      </p:pic>
      <p:sp>
        <p:nvSpPr>
          <p:cNvPr id="2" name="Title 1"/>
          <p:cNvSpPr>
            <a:spLocks noGrp="1"/>
          </p:cNvSpPr>
          <p:nvPr>
            <p:ph type="title"/>
          </p:nvPr>
        </p:nvSpPr>
        <p:spPr/>
        <p:txBody>
          <a:bodyPr/>
          <a:lstStyle/>
          <a:p>
            <a:r>
              <a:rPr lang="en-IN" b="1" dirty="0" smtClean="0"/>
              <a:t>OUR TEAM</a:t>
            </a:r>
            <a:endParaRPr lang="en-US" b="1" dirty="0"/>
          </a:p>
        </p:txBody>
      </p:sp>
      <p:pic>
        <p:nvPicPr>
          <p:cNvPr id="4" name="Picture 3" descr="group-of-people-icon-team-symbol-communication-vector-21264327.jpg"/>
          <p:cNvPicPr>
            <a:picLocks noChangeAspect="1"/>
          </p:cNvPicPr>
          <p:nvPr/>
        </p:nvPicPr>
        <p:blipFill>
          <a:blip r:embed="rId2" cstate="print"/>
          <a:srcRect l="1284" t="4851" r="2417" b="11151"/>
          <a:stretch>
            <a:fillRect/>
          </a:stretch>
        </p:blipFill>
        <p:spPr>
          <a:xfrm>
            <a:off x="323528" y="2060848"/>
            <a:ext cx="1152128" cy="1084355"/>
          </a:xfrm>
          <a:prstGeom prst="rect">
            <a:avLst/>
          </a:prstGeom>
        </p:spPr>
      </p:pic>
      <p:sp>
        <p:nvSpPr>
          <p:cNvPr id="7" name="TextBox 6"/>
          <p:cNvSpPr txBox="1"/>
          <p:nvPr/>
        </p:nvSpPr>
        <p:spPr>
          <a:xfrm>
            <a:off x="0" y="3356992"/>
            <a:ext cx="3744416" cy="1200329"/>
          </a:xfrm>
          <a:prstGeom prst="rect">
            <a:avLst/>
          </a:prstGeom>
          <a:noFill/>
        </p:spPr>
        <p:txBody>
          <a:bodyPr wrap="square" rtlCol="0">
            <a:spAutoFit/>
          </a:bodyPr>
          <a:lstStyle/>
          <a:p>
            <a:pPr lvl="0" fontAlgn="base"/>
            <a:r>
              <a:rPr lang="en-US" b="1" dirty="0" smtClean="0"/>
              <a:t>    IT </a:t>
            </a:r>
            <a:r>
              <a:rPr lang="en-US" b="1" dirty="0" smtClean="0"/>
              <a:t>Team</a:t>
            </a:r>
            <a:endParaRPr lang="en-US" dirty="0" smtClean="0"/>
          </a:p>
          <a:p>
            <a:pPr>
              <a:buFont typeface="Arial" panose="020B0604020202020204" pitchFamily="34" charset="0"/>
              <a:buChar char="•"/>
            </a:pPr>
            <a:r>
              <a:rPr lang="en-US" dirty="0" smtClean="0"/>
              <a:t> Software </a:t>
            </a:r>
            <a:r>
              <a:rPr lang="en-US" dirty="0" smtClean="0"/>
              <a:t>Developers </a:t>
            </a:r>
            <a:r>
              <a:rPr lang="en-US" dirty="0" smtClean="0"/>
              <a:t>Manager</a:t>
            </a:r>
            <a:endParaRPr lang="en-US" dirty="0" smtClean="0"/>
          </a:p>
          <a:p>
            <a:pPr>
              <a:buFont typeface="Arial" panose="020B0604020202020204" pitchFamily="34" charset="0"/>
              <a:buChar char="•"/>
            </a:pPr>
            <a:r>
              <a:rPr lang="en-US" dirty="0" smtClean="0"/>
              <a:t> Software </a:t>
            </a:r>
            <a:r>
              <a:rPr lang="en-US" dirty="0" smtClean="0"/>
              <a:t>Developer </a:t>
            </a:r>
            <a:r>
              <a:rPr lang="en-US" dirty="0" smtClean="0"/>
              <a:t>Trainees</a:t>
            </a:r>
            <a:endParaRPr lang="en-US" dirty="0" smtClean="0"/>
          </a:p>
          <a:p>
            <a:pPr>
              <a:buFont typeface="Arial" panose="020B0604020202020204" pitchFamily="34" charset="0"/>
              <a:buChar char="•"/>
            </a:pPr>
            <a:r>
              <a:rPr lang="en-US" dirty="0" smtClean="0"/>
              <a:t> Software Developer </a:t>
            </a:r>
            <a:r>
              <a:rPr lang="en-US" dirty="0" smtClean="0"/>
              <a:t>Interns</a:t>
            </a:r>
            <a:endParaRPr lang="en-US" dirty="0"/>
          </a:p>
        </p:txBody>
      </p:sp>
      <p:pic>
        <p:nvPicPr>
          <p:cNvPr id="9" name="Picture 8" descr="Screenshot (59).png"/>
          <p:cNvPicPr>
            <a:picLocks noChangeAspect="1"/>
          </p:cNvPicPr>
          <p:nvPr/>
        </p:nvPicPr>
        <p:blipFill>
          <a:blip r:embed="rId3" cstate="print"/>
          <a:srcRect l="24800" t="14983" r="42913" b="17785"/>
          <a:stretch>
            <a:fillRect/>
          </a:stretch>
        </p:blipFill>
        <p:spPr>
          <a:xfrm>
            <a:off x="3707904" y="2060848"/>
            <a:ext cx="1296144" cy="1132809"/>
          </a:xfrm>
          <a:prstGeom prst="rect">
            <a:avLst/>
          </a:prstGeom>
        </p:spPr>
      </p:pic>
      <p:sp>
        <p:nvSpPr>
          <p:cNvPr id="10" name="TextBox 9"/>
          <p:cNvSpPr txBox="1"/>
          <p:nvPr/>
        </p:nvSpPr>
        <p:spPr>
          <a:xfrm>
            <a:off x="3635896" y="3356992"/>
            <a:ext cx="2952328" cy="1754326"/>
          </a:xfrm>
          <a:prstGeom prst="rect">
            <a:avLst/>
          </a:prstGeom>
          <a:noFill/>
        </p:spPr>
        <p:txBody>
          <a:bodyPr wrap="square" rtlCol="0">
            <a:spAutoFit/>
          </a:bodyPr>
          <a:lstStyle/>
          <a:p>
            <a:pPr lvl="0" fontAlgn="base"/>
            <a:r>
              <a:rPr lang="en-US" b="1" dirty="0" smtClean="0"/>
              <a:t> HR </a:t>
            </a:r>
            <a:r>
              <a:rPr lang="en-US" b="1" dirty="0" smtClean="0"/>
              <a:t>Team	</a:t>
            </a:r>
            <a:r>
              <a:rPr lang="en-US" dirty="0" smtClean="0"/>
              <a:t>	</a:t>
            </a:r>
            <a:endParaRPr lang="en-US" dirty="0" smtClean="0"/>
          </a:p>
          <a:p>
            <a:pPr>
              <a:buFont typeface="Arial" panose="020B0604020202020204" pitchFamily="34" charset="0"/>
              <a:buChar char="•"/>
            </a:pPr>
            <a:r>
              <a:rPr lang="en-US" dirty="0" smtClean="0"/>
              <a:t> HR </a:t>
            </a:r>
            <a:r>
              <a:rPr lang="en-US" dirty="0" smtClean="0"/>
              <a:t>Manager	</a:t>
            </a:r>
            <a:endParaRPr lang="en-US" dirty="0" smtClean="0"/>
          </a:p>
          <a:p>
            <a:pPr>
              <a:buFont typeface="Arial" panose="020B0604020202020204" pitchFamily="34" charset="0"/>
              <a:buChar char="•"/>
            </a:pPr>
            <a:r>
              <a:rPr lang="en-US" dirty="0" smtClean="0"/>
              <a:t> HR </a:t>
            </a:r>
            <a:r>
              <a:rPr lang="en-US" dirty="0" smtClean="0"/>
              <a:t>Recruiter</a:t>
            </a:r>
            <a:endParaRPr lang="en-US" dirty="0" smtClean="0"/>
          </a:p>
          <a:p>
            <a:pPr>
              <a:buFont typeface="Arial" panose="020B0604020202020204" pitchFamily="34" charset="0"/>
              <a:buChar char="•"/>
            </a:pPr>
            <a:r>
              <a:rPr lang="en-US" dirty="0" smtClean="0"/>
              <a:t> HR</a:t>
            </a:r>
            <a:r>
              <a:rPr lang="en-US" dirty="0" smtClean="0"/>
              <a:t>  Interns</a:t>
            </a:r>
            <a:endParaRPr lang="en-US" dirty="0" smtClean="0"/>
          </a:p>
          <a:p>
            <a:pPr>
              <a:buFont typeface="Arial" panose="020B0604020202020204" pitchFamily="34" charset="0"/>
              <a:buChar char="•"/>
            </a:pPr>
            <a:r>
              <a:rPr lang="en-US" dirty="0" smtClean="0"/>
              <a:t> HR </a:t>
            </a:r>
            <a:r>
              <a:rPr lang="en-US" dirty="0" smtClean="0"/>
              <a:t>Trainees	</a:t>
            </a:r>
            <a:endParaRPr lang="en-US" dirty="0" smtClean="0"/>
          </a:p>
          <a:p>
            <a:endParaRPr lang="en-US" dirty="0"/>
          </a:p>
        </p:txBody>
      </p:sp>
      <p:pic>
        <p:nvPicPr>
          <p:cNvPr id="11" name="Picture 10" descr="Screenshot (60).png"/>
          <p:cNvPicPr>
            <a:picLocks noChangeAspect="1"/>
          </p:cNvPicPr>
          <p:nvPr/>
        </p:nvPicPr>
        <p:blipFill>
          <a:blip r:embed="rId4" cstate="print"/>
          <a:srcRect l="46062" t="44397" r="25588" b="33192"/>
          <a:stretch>
            <a:fillRect/>
          </a:stretch>
        </p:blipFill>
        <p:spPr>
          <a:xfrm>
            <a:off x="6300192" y="2060848"/>
            <a:ext cx="2592288" cy="1152128"/>
          </a:xfrm>
          <a:prstGeom prst="rect">
            <a:avLst/>
          </a:prstGeom>
        </p:spPr>
      </p:pic>
      <p:sp>
        <p:nvSpPr>
          <p:cNvPr id="12" name="TextBox 11"/>
          <p:cNvSpPr txBox="1"/>
          <p:nvPr/>
        </p:nvSpPr>
        <p:spPr>
          <a:xfrm>
            <a:off x="6084168" y="3356992"/>
            <a:ext cx="3059832" cy="923330"/>
          </a:xfrm>
          <a:prstGeom prst="rect">
            <a:avLst/>
          </a:prstGeom>
          <a:noFill/>
        </p:spPr>
        <p:txBody>
          <a:bodyPr wrap="square" rtlCol="0">
            <a:spAutoFit/>
          </a:bodyPr>
          <a:lstStyle/>
          <a:p>
            <a:r>
              <a:rPr lang="en-IN" b="1" dirty="0" smtClean="0"/>
              <a:t>        Digital Marketing</a:t>
            </a:r>
            <a:endParaRPr lang="en-US" b="1" dirty="0" smtClean="0"/>
          </a:p>
          <a:p>
            <a:pPr>
              <a:buFont typeface="Arial" panose="020B0604020202020204" pitchFamily="34" charset="0"/>
              <a:buChar char="•"/>
            </a:pPr>
            <a:r>
              <a:rPr lang="en-US" dirty="0" smtClean="0"/>
              <a:t>Digital </a:t>
            </a:r>
            <a:r>
              <a:rPr lang="en-US" dirty="0" smtClean="0"/>
              <a:t>Marketing </a:t>
            </a:r>
            <a:r>
              <a:rPr lang="en-US" dirty="0" smtClean="0"/>
              <a:t>Interns</a:t>
            </a:r>
            <a:endParaRPr lang="en-US" dirty="0" smtClean="0"/>
          </a:p>
          <a:p>
            <a:pPr>
              <a:buFont typeface="Arial" panose="020B0604020202020204" pitchFamily="34" charset="0"/>
              <a:buChar char="•"/>
            </a:pPr>
            <a:r>
              <a:rPr lang="en-US" dirty="0" smtClean="0"/>
              <a:t> Digital Marketing</a:t>
            </a:r>
            <a:r>
              <a:rPr lang="en-US" dirty="0" smtClean="0"/>
              <a:t> </a:t>
            </a:r>
            <a:r>
              <a:rPr lang="en-US" dirty="0" smtClean="0"/>
              <a:t>Trainees</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413a0c69df5d126b4e76335f752b3702.jpg"/>
          <p:cNvPicPr>
            <a:picLocks noChangeAspect="1"/>
          </p:cNvPicPr>
          <p:nvPr/>
        </p:nvPicPr>
        <p:blipFill>
          <a:blip r:embed="rId1" cstate="print"/>
          <a:stretch>
            <a:fillRect/>
          </a:stretch>
        </p:blipFill>
        <p:spPr>
          <a:xfrm>
            <a:off x="0" y="0"/>
            <a:ext cx="9147250" cy="6858000"/>
          </a:xfrm>
          <a:prstGeom prst="rect">
            <a:avLst/>
          </a:prstGeom>
        </p:spPr>
      </p:pic>
      <p:sp>
        <p:nvSpPr>
          <p:cNvPr id="2" name="Title 1"/>
          <p:cNvSpPr>
            <a:spLocks noGrp="1"/>
          </p:cNvSpPr>
          <p:nvPr>
            <p:ph type="title"/>
          </p:nvPr>
        </p:nvSpPr>
        <p:spPr>
          <a:xfrm>
            <a:off x="251520" y="620688"/>
            <a:ext cx="3852936" cy="1143000"/>
          </a:xfrm>
        </p:spPr>
        <p:txBody>
          <a:bodyPr>
            <a:normAutofit/>
          </a:bodyPr>
          <a:lstStyle/>
          <a:p>
            <a:r>
              <a:rPr lang="en-US" sz="4000" b="1" dirty="0" smtClean="0"/>
              <a:t>Placements:</a:t>
            </a:r>
            <a:endParaRPr lang="en-US" sz="4000" b="1" dirty="0"/>
          </a:p>
        </p:txBody>
      </p:sp>
      <p:sp>
        <p:nvSpPr>
          <p:cNvPr id="3" name="Content Placeholder 2"/>
          <p:cNvSpPr>
            <a:spLocks noGrp="1"/>
          </p:cNvSpPr>
          <p:nvPr>
            <p:ph idx="1"/>
          </p:nvPr>
        </p:nvSpPr>
        <p:spPr>
          <a:xfrm>
            <a:off x="1907704" y="2204864"/>
            <a:ext cx="6851104" cy="2304256"/>
          </a:xfrm>
        </p:spPr>
        <p:txBody>
          <a:bodyPr/>
          <a:lstStyle/>
          <a:p>
            <a:pPr>
              <a:buNone/>
            </a:pPr>
            <a:r>
              <a:rPr lang="en-US" dirty="0" smtClean="0"/>
              <a:t>Dedicated Placement Cell for Lifetime</a:t>
            </a:r>
            <a:endParaRPr lang="en-US" dirty="0" smtClean="0"/>
          </a:p>
          <a:p>
            <a:pPr>
              <a:buNone/>
            </a:pPr>
            <a:r>
              <a:rPr lang="en-US" dirty="0" smtClean="0"/>
              <a:t>Placement Support with a Network with</a:t>
            </a:r>
            <a:endParaRPr lang="en-US" dirty="0" smtClean="0"/>
          </a:p>
          <a:p>
            <a:pPr>
              <a:buNone/>
            </a:pPr>
            <a:r>
              <a:rPr lang="en-US" dirty="0" smtClean="0"/>
              <a:t>leading IT Companies.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413a0c69df5d126b4e76335f752b3702.jpg"/>
          <p:cNvPicPr>
            <a:picLocks noChangeAspect="1"/>
          </p:cNvPicPr>
          <p:nvPr/>
        </p:nvPicPr>
        <p:blipFill>
          <a:blip r:embed="rId1" cstate="print"/>
          <a:stretch>
            <a:fillRect/>
          </a:stretch>
        </p:blipFill>
        <p:spPr>
          <a:xfrm>
            <a:off x="0" y="0"/>
            <a:ext cx="9147250" cy="6858000"/>
          </a:xfrm>
          <a:prstGeom prst="rect">
            <a:avLst/>
          </a:prstGeom>
        </p:spPr>
      </p:pic>
      <p:sp>
        <p:nvSpPr>
          <p:cNvPr id="2" name="Title 1"/>
          <p:cNvSpPr>
            <a:spLocks noGrp="1"/>
          </p:cNvSpPr>
          <p:nvPr>
            <p:ph type="title"/>
          </p:nvPr>
        </p:nvSpPr>
        <p:spPr>
          <a:xfrm>
            <a:off x="2987824" y="260648"/>
            <a:ext cx="3538736" cy="634082"/>
          </a:xfrm>
        </p:spPr>
        <p:txBody>
          <a:bodyPr>
            <a:normAutofit fontScale="90000"/>
          </a:bodyPr>
          <a:lstStyle/>
          <a:p>
            <a:r>
              <a:rPr lang="en-IN" b="1" dirty="0" smtClean="0"/>
              <a:t>OUR CLIENTS</a:t>
            </a:r>
            <a:endParaRPr lang="en-US" b="1" dirty="0"/>
          </a:p>
        </p:txBody>
      </p:sp>
      <p:pic>
        <p:nvPicPr>
          <p:cNvPr id="5" name="Content Placeholder 3" descr="15386897-Row-of-HTML-CSS-PHP-and-other-web-development-element-icons-move-into-a-symbol-of-a-computer-monitor-Stock-Vector.jpg"/>
          <p:cNvPicPr>
            <a:picLocks noGrp="1" noChangeAspect="1"/>
          </p:cNvPicPr>
          <p:nvPr>
            <p:ph idx="1"/>
          </p:nvPr>
        </p:nvPicPr>
        <p:blipFill>
          <a:blip r:embed="rId2" cstate="print"/>
          <a:stretch>
            <a:fillRect/>
          </a:stretch>
        </p:blipFill>
        <p:spPr>
          <a:xfrm>
            <a:off x="4067944" y="2420888"/>
            <a:ext cx="1219200" cy="781746"/>
          </a:xfrm>
        </p:spPr>
      </p:pic>
      <p:pic>
        <p:nvPicPr>
          <p:cNvPr id="6" name="Picture 5" descr="logo (1).png"/>
          <p:cNvPicPr>
            <a:picLocks noChangeAspect="1"/>
          </p:cNvPicPr>
          <p:nvPr/>
        </p:nvPicPr>
        <p:blipFill>
          <a:blip r:embed="rId3" cstate="print"/>
          <a:stretch>
            <a:fillRect/>
          </a:stretch>
        </p:blipFill>
        <p:spPr>
          <a:xfrm>
            <a:off x="611560" y="3429000"/>
            <a:ext cx="1676400" cy="657665"/>
          </a:xfrm>
          <a:prstGeom prst="rect">
            <a:avLst/>
          </a:prstGeom>
        </p:spPr>
      </p:pic>
      <p:pic>
        <p:nvPicPr>
          <p:cNvPr id="7" name="Picture 6" descr="logo.png"/>
          <p:cNvPicPr>
            <a:picLocks noChangeAspect="1"/>
          </p:cNvPicPr>
          <p:nvPr/>
        </p:nvPicPr>
        <p:blipFill>
          <a:blip r:embed="rId4" cstate="print"/>
          <a:stretch>
            <a:fillRect/>
          </a:stretch>
        </p:blipFill>
        <p:spPr>
          <a:xfrm>
            <a:off x="971600" y="1556792"/>
            <a:ext cx="1903941" cy="533400"/>
          </a:xfrm>
          <a:prstGeom prst="rect">
            <a:avLst/>
          </a:prstGeom>
        </p:spPr>
      </p:pic>
      <p:pic>
        <p:nvPicPr>
          <p:cNvPr id="8" name="Picture 7" descr="wordprologo2.jpg"/>
          <p:cNvPicPr>
            <a:picLocks noChangeAspect="1"/>
          </p:cNvPicPr>
          <p:nvPr/>
        </p:nvPicPr>
        <p:blipFill>
          <a:blip r:embed="rId5" cstate="print"/>
          <a:stretch>
            <a:fillRect/>
          </a:stretch>
        </p:blipFill>
        <p:spPr>
          <a:xfrm>
            <a:off x="6012160" y="1556792"/>
            <a:ext cx="2160240" cy="843844"/>
          </a:xfrm>
          <a:prstGeom prst="rect">
            <a:avLst/>
          </a:prstGeom>
        </p:spPr>
      </p:pic>
      <p:pic>
        <p:nvPicPr>
          <p:cNvPr id="9" name="Picture 8" descr="logo.png"/>
          <p:cNvPicPr>
            <a:picLocks noChangeAspect="1"/>
          </p:cNvPicPr>
          <p:nvPr/>
        </p:nvPicPr>
        <p:blipFill>
          <a:blip r:embed="rId6" cstate="print"/>
          <a:stretch>
            <a:fillRect/>
          </a:stretch>
        </p:blipFill>
        <p:spPr>
          <a:xfrm>
            <a:off x="539552" y="2420888"/>
            <a:ext cx="2998033" cy="457200"/>
          </a:xfrm>
          <a:prstGeom prst="rect">
            <a:avLst/>
          </a:prstGeom>
        </p:spPr>
      </p:pic>
      <p:pic>
        <p:nvPicPr>
          <p:cNvPr id="10" name="Picture 9" descr="alacrity.png"/>
          <p:cNvPicPr>
            <a:picLocks noChangeAspect="1"/>
          </p:cNvPicPr>
          <p:nvPr/>
        </p:nvPicPr>
        <p:blipFill>
          <a:blip r:embed="rId7" cstate="print"/>
          <a:stretch>
            <a:fillRect/>
          </a:stretch>
        </p:blipFill>
        <p:spPr>
          <a:xfrm>
            <a:off x="6516216" y="2636912"/>
            <a:ext cx="1694447" cy="990600"/>
          </a:xfrm>
          <a:prstGeom prst="rect">
            <a:avLst/>
          </a:prstGeom>
        </p:spPr>
      </p:pic>
      <p:pic>
        <p:nvPicPr>
          <p:cNvPr id="11" name="Picture 10" descr="hexaware.png"/>
          <p:cNvPicPr>
            <a:picLocks noChangeAspect="1"/>
          </p:cNvPicPr>
          <p:nvPr/>
        </p:nvPicPr>
        <p:blipFill>
          <a:blip r:embed="rId8" cstate="print"/>
          <a:stretch>
            <a:fillRect/>
          </a:stretch>
        </p:blipFill>
        <p:spPr>
          <a:xfrm>
            <a:off x="5076056" y="4293096"/>
            <a:ext cx="1676400" cy="762000"/>
          </a:xfrm>
          <a:prstGeom prst="rect">
            <a:avLst/>
          </a:prstGeom>
        </p:spPr>
      </p:pic>
      <p:pic>
        <p:nvPicPr>
          <p:cNvPr id="12" name="Picture 11" descr="KClogo.png"/>
          <p:cNvPicPr>
            <a:picLocks noChangeAspect="1"/>
          </p:cNvPicPr>
          <p:nvPr/>
        </p:nvPicPr>
        <p:blipFill>
          <a:blip r:embed="rId9" cstate="print"/>
          <a:stretch>
            <a:fillRect/>
          </a:stretch>
        </p:blipFill>
        <p:spPr>
          <a:xfrm>
            <a:off x="539552" y="4509120"/>
            <a:ext cx="4103591" cy="533400"/>
          </a:xfrm>
          <a:prstGeom prst="rect">
            <a:avLst/>
          </a:prstGeom>
        </p:spPr>
      </p:pic>
      <p:pic>
        <p:nvPicPr>
          <p:cNvPr id="13" name="Picture 12" descr="logo (1).png"/>
          <p:cNvPicPr>
            <a:picLocks noChangeAspect="1"/>
          </p:cNvPicPr>
          <p:nvPr/>
        </p:nvPicPr>
        <p:blipFill>
          <a:blip r:embed="rId10" cstate="print"/>
          <a:stretch>
            <a:fillRect/>
          </a:stretch>
        </p:blipFill>
        <p:spPr>
          <a:xfrm>
            <a:off x="3419872" y="3429000"/>
            <a:ext cx="2581275" cy="600075"/>
          </a:xfrm>
          <a:prstGeom prst="rect">
            <a:avLst/>
          </a:prstGeom>
        </p:spPr>
      </p:pic>
      <p:pic>
        <p:nvPicPr>
          <p:cNvPr id="14" name="Picture 13" descr="ubiquitylogo-1.png"/>
          <p:cNvPicPr>
            <a:picLocks noChangeAspect="1"/>
          </p:cNvPicPr>
          <p:nvPr/>
        </p:nvPicPr>
        <p:blipFill>
          <a:blip r:embed="rId11" cstate="print"/>
          <a:stretch>
            <a:fillRect/>
          </a:stretch>
        </p:blipFill>
        <p:spPr>
          <a:xfrm>
            <a:off x="3707904" y="1700808"/>
            <a:ext cx="1476103" cy="457200"/>
          </a:xfrm>
          <a:prstGeom prst="rect">
            <a:avLst/>
          </a:prstGeom>
        </p:spPr>
      </p:pic>
      <p:pic>
        <p:nvPicPr>
          <p:cNvPr id="15" name="Picture 14" descr="vaibhav-plasto-printing-and-packaging-private-limited-120x120.jpg"/>
          <p:cNvPicPr>
            <a:picLocks noChangeAspect="1"/>
          </p:cNvPicPr>
          <p:nvPr/>
        </p:nvPicPr>
        <p:blipFill>
          <a:blip r:embed="rId12" cstate="print"/>
          <a:stretch>
            <a:fillRect/>
          </a:stretch>
        </p:blipFill>
        <p:spPr>
          <a:xfrm>
            <a:off x="6876256" y="3933056"/>
            <a:ext cx="2057400" cy="1070992"/>
          </a:xfrm>
          <a:prstGeom prst="rect">
            <a:avLst/>
          </a:prstGeom>
        </p:spPr>
      </p:pic>
      <p:pic>
        <p:nvPicPr>
          <p:cNvPr id="16" name="Picture 15" descr="vowelweb.png"/>
          <p:cNvPicPr>
            <a:picLocks noChangeAspect="1"/>
          </p:cNvPicPr>
          <p:nvPr/>
        </p:nvPicPr>
        <p:blipFill>
          <a:blip r:embed="rId13" cstate="print"/>
          <a:stretch>
            <a:fillRect/>
          </a:stretch>
        </p:blipFill>
        <p:spPr>
          <a:xfrm>
            <a:off x="971600" y="5661248"/>
            <a:ext cx="2847975" cy="723900"/>
          </a:xfrm>
          <a:prstGeom prst="rect">
            <a:avLst/>
          </a:prstGeom>
        </p:spPr>
      </p:pic>
      <p:pic>
        <p:nvPicPr>
          <p:cNvPr id="17" name="Picture 16" descr="cropped-BigV-logo.jpg"/>
          <p:cNvPicPr>
            <a:picLocks noChangeAspect="1"/>
          </p:cNvPicPr>
          <p:nvPr/>
        </p:nvPicPr>
        <p:blipFill>
          <a:blip r:embed="rId14" cstate="print"/>
          <a:stretch>
            <a:fillRect/>
          </a:stretch>
        </p:blipFill>
        <p:spPr>
          <a:xfrm>
            <a:off x="4644008" y="5589240"/>
            <a:ext cx="3840480" cy="10088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413a0c69df5d126b4e76335f752b3702.jpg"/>
          <p:cNvPicPr>
            <a:picLocks noChangeAspect="1"/>
          </p:cNvPicPr>
          <p:nvPr/>
        </p:nvPicPr>
        <p:blipFill>
          <a:blip r:embed="rId1" cstate="print"/>
          <a:stretch>
            <a:fillRect/>
          </a:stretch>
        </p:blipFill>
        <p:spPr>
          <a:xfrm>
            <a:off x="0" y="0"/>
            <a:ext cx="9147250" cy="6858000"/>
          </a:xfrm>
          <a:prstGeom prst="rect">
            <a:avLst/>
          </a:prstGeom>
        </p:spPr>
      </p:pic>
      <p:pic>
        <p:nvPicPr>
          <p:cNvPr id="5" name="Picture 4" descr="Dhandaniya.png"/>
          <p:cNvPicPr>
            <a:picLocks noChangeAspect="1"/>
          </p:cNvPicPr>
          <p:nvPr/>
        </p:nvPicPr>
        <p:blipFill>
          <a:blip r:embed="rId2" cstate="print"/>
          <a:stretch>
            <a:fillRect/>
          </a:stretch>
        </p:blipFill>
        <p:spPr>
          <a:xfrm>
            <a:off x="395536" y="764704"/>
            <a:ext cx="2590800" cy="457200"/>
          </a:xfrm>
          <a:prstGeom prst="rect">
            <a:avLst/>
          </a:prstGeom>
        </p:spPr>
      </p:pic>
      <p:pic>
        <p:nvPicPr>
          <p:cNvPr id="6" name="Picture 5" descr="E-sense It solution.png"/>
          <p:cNvPicPr>
            <a:picLocks noChangeAspect="1"/>
          </p:cNvPicPr>
          <p:nvPr/>
        </p:nvPicPr>
        <p:blipFill>
          <a:blip r:embed="rId3" cstate="print"/>
          <a:stretch>
            <a:fillRect/>
          </a:stretch>
        </p:blipFill>
        <p:spPr>
          <a:xfrm>
            <a:off x="6553200" y="2895600"/>
            <a:ext cx="1924050" cy="952500"/>
          </a:xfrm>
          <a:prstGeom prst="rect">
            <a:avLst/>
          </a:prstGeom>
        </p:spPr>
      </p:pic>
      <p:pic>
        <p:nvPicPr>
          <p:cNvPr id="7" name="Picture 6" descr="kd-logo.gif"/>
          <p:cNvPicPr>
            <a:picLocks noChangeAspect="1"/>
          </p:cNvPicPr>
          <p:nvPr/>
        </p:nvPicPr>
        <p:blipFill>
          <a:blip r:embed="rId4" cstate="print"/>
          <a:stretch>
            <a:fillRect/>
          </a:stretch>
        </p:blipFill>
        <p:spPr>
          <a:xfrm>
            <a:off x="3352800" y="533400"/>
            <a:ext cx="2362200" cy="1066800"/>
          </a:xfrm>
          <a:prstGeom prst="rect">
            <a:avLst/>
          </a:prstGeom>
        </p:spPr>
      </p:pic>
      <p:pic>
        <p:nvPicPr>
          <p:cNvPr id="8" name="Picture 7" descr="logo (1).png"/>
          <p:cNvPicPr>
            <a:picLocks noChangeAspect="1"/>
          </p:cNvPicPr>
          <p:nvPr/>
        </p:nvPicPr>
        <p:blipFill>
          <a:blip r:embed="rId5" cstate="print"/>
          <a:stretch>
            <a:fillRect/>
          </a:stretch>
        </p:blipFill>
        <p:spPr>
          <a:xfrm>
            <a:off x="533400" y="1905000"/>
            <a:ext cx="2819400" cy="733425"/>
          </a:xfrm>
          <a:prstGeom prst="rect">
            <a:avLst/>
          </a:prstGeom>
        </p:spPr>
      </p:pic>
      <p:pic>
        <p:nvPicPr>
          <p:cNvPr id="9" name="Picture 8" descr="Ascent.png"/>
          <p:cNvPicPr>
            <a:picLocks noChangeAspect="1"/>
          </p:cNvPicPr>
          <p:nvPr/>
        </p:nvPicPr>
        <p:blipFill>
          <a:blip r:embed="rId6" cstate="print"/>
          <a:stretch>
            <a:fillRect/>
          </a:stretch>
        </p:blipFill>
        <p:spPr>
          <a:xfrm>
            <a:off x="3505200" y="1828800"/>
            <a:ext cx="2209800" cy="1171575"/>
          </a:xfrm>
          <a:prstGeom prst="rect">
            <a:avLst/>
          </a:prstGeom>
        </p:spPr>
      </p:pic>
      <p:pic>
        <p:nvPicPr>
          <p:cNvPr id="10" name="Picture 9" descr="Datalogy software.png"/>
          <p:cNvPicPr>
            <a:picLocks noChangeAspect="1"/>
          </p:cNvPicPr>
          <p:nvPr/>
        </p:nvPicPr>
        <p:blipFill>
          <a:blip r:embed="rId7" cstate="print"/>
          <a:stretch>
            <a:fillRect/>
          </a:stretch>
        </p:blipFill>
        <p:spPr>
          <a:xfrm>
            <a:off x="533401" y="3048000"/>
            <a:ext cx="3124200" cy="714375"/>
          </a:xfrm>
          <a:prstGeom prst="rect">
            <a:avLst/>
          </a:prstGeom>
        </p:spPr>
      </p:pic>
      <p:pic>
        <p:nvPicPr>
          <p:cNvPr id="11" name="Picture 10" descr="logo (2).png"/>
          <p:cNvPicPr>
            <a:picLocks noChangeAspect="1"/>
          </p:cNvPicPr>
          <p:nvPr/>
        </p:nvPicPr>
        <p:blipFill>
          <a:blip r:embed="rId8" cstate="print"/>
          <a:stretch>
            <a:fillRect/>
          </a:stretch>
        </p:blipFill>
        <p:spPr>
          <a:xfrm>
            <a:off x="533400" y="4038600"/>
            <a:ext cx="2762250" cy="952500"/>
          </a:xfrm>
          <a:prstGeom prst="rect">
            <a:avLst/>
          </a:prstGeom>
        </p:spPr>
      </p:pic>
      <p:pic>
        <p:nvPicPr>
          <p:cNvPr id="12" name="Picture 11" descr="logo (3).png"/>
          <p:cNvPicPr>
            <a:picLocks noChangeAspect="1"/>
          </p:cNvPicPr>
          <p:nvPr/>
        </p:nvPicPr>
        <p:blipFill>
          <a:blip r:embed="rId9" cstate="print"/>
          <a:stretch>
            <a:fillRect/>
          </a:stretch>
        </p:blipFill>
        <p:spPr>
          <a:xfrm>
            <a:off x="381000" y="5257800"/>
            <a:ext cx="2438400" cy="590550"/>
          </a:xfrm>
          <a:prstGeom prst="rect">
            <a:avLst/>
          </a:prstGeom>
        </p:spPr>
      </p:pic>
      <p:pic>
        <p:nvPicPr>
          <p:cNvPr id="13" name="Picture 12" descr="logo (4).png"/>
          <p:cNvPicPr>
            <a:picLocks noChangeAspect="1"/>
          </p:cNvPicPr>
          <p:nvPr/>
        </p:nvPicPr>
        <p:blipFill>
          <a:blip r:embed="rId10" cstate="print"/>
          <a:stretch>
            <a:fillRect/>
          </a:stretch>
        </p:blipFill>
        <p:spPr>
          <a:xfrm>
            <a:off x="3779912" y="5301208"/>
            <a:ext cx="4581525" cy="723900"/>
          </a:xfrm>
          <a:prstGeom prst="rect">
            <a:avLst/>
          </a:prstGeom>
        </p:spPr>
      </p:pic>
      <p:pic>
        <p:nvPicPr>
          <p:cNvPr id="14" name="Picture 13" descr="Arista.png"/>
          <p:cNvPicPr>
            <a:picLocks noChangeAspect="1"/>
          </p:cNvPicPr>
          <p:nvPr/>
        </p:nvPicPr>
        <p:blipFill>
          <a:blip r:embed="rId11" cstate="print"/>
          <a:stretch>
            <a:fillRect/>
          </a:stretch>
        </p:blipFill>
        <p:spPr>
          <a:xfrm>
            <a:off x="6012160" y="620688"/>
            <a:ext cx="2880320" cy="774603"/>
          </a:xfrm>
          <a:prstGeom prst="rect">
            <a:avLst/>
          </a:prstGeom>
        </p:spPr>
      </p:pic>
      <p:pic>
        <p:nvPicPr>
          <p:cNvPr id="15" name="Picture 14" descr="callisto.png"/>
          <p:cNvPicPr>
            <a:picLocks noChangeAspect="1"/>
          </p:cNvPicPr>
          <p:nvPr/>
        </p:nvPicPr>
        <p:blipFill>
          <a:blip r:embed="rId12" cstate="print"/>
          <a:stretch>
            <a:fillRect/>
          </a:stretch>
        </p:blipFill>
        <p:spPr>
          <a:xfrm>
            <a:off x="6172200" y="1905000"/>
            <a:ext cx="2209800" cy="704089"/>
          </a:xfrm>
          <a:prstGeom prst="rect">
            <a:avLst/>
          </a:prstGeom>
        </p:spPr>
      </p:pic>
      <p:pic>
        <p:nvPicPr>
          <p:cNvPr id="16" name="Picture 15" descr="logo(1).png"/>
          <p:cNvPicPr>
            <a:picLocks noChangeAspect="1"/>
          </p:cNvPicPr>
          <p:nvPr/>
        </p:nvPicPr>
        <p:blipFill>
          <a:blip r:embed="rId13" cstate="print"/>
          <a:stretch>
            <a:fillRect/>
          </a:stretch>
        </p:blipFill>
        <p:spPr>
          <a:xfrm>
            <a:off x="4191000" y="3124200"/>
            <a:ext cx="2146032" cy="723810"/>
          </a:xfrm>
          <a:prstGeom prst="rect">
            <a:avLst/>
          </a:prstGeom>
        </p:spPr>
      </p:pic>
      <p:pic>
        <p:nvPicPr>
          <p:cNvPr id="17" name="Picture 16" descr="premier-india-enterprise-350x120.png"/>
          <p:cNvPicPr>
            <a:picLocks noChangeAspect="1"/>
          </p:cNvPicPr>
          <p:nvPr/>
        </p:nvPicPr>
        <p:blipFill>
          <a:blip r:embed="rId14" cstate="print"/>
          <a:stretch>
            <a:fillRect/>
          </a:stretch>
        </p:blipFill>
        <p:spPr>
          <a:xfrm>
            <a:off x="5076056" y="3933056"/>
            <a:ext cx="2724150" cy="1143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413a0c69df5d126b4e76335f752b3702.jpg"/>
          <p:cNvPicPr>
            <a:picLocks noChangeAspect="1"/>
          </p:cNvPicPr>
          <p:nvPr/>
        </p:nvPicPr>
        <p:blipFill>
          <a:blip r:embed="rId1" cstate="print"/>
          <a:stretch>
            <a:fillRect/>
          </a:stretch>
        </p:blipFill>
        <p:spPr>
          <a:xfrm>
            <a:off x="0" y="0"/>
            <a:ext cx="9147250" cy="6858000"/>
          </a:xfrm>
          <a:prstGeom prst="rect">
            <a:avLst/>
          </a:prstGeom>
        </p:spPr>
      </p:pic>
      <p:sp>
        <p:nvSpPr>
          <p:cNvPr id="2" name="Title 1"/>
          <p:cNvSpPr>
            <a:spLocks noGrp="1"/>
          </p:cNvSpPr>
          <p:nvPr>
            <p:ph type="title"/>
          </p:nvPr>
        </p:nvSpPr>
        <p:spPr>
          <a:xfrm>
            <a:off x="457200" y="274638"/>
            <a:ext cx="3826768" cy="1143000"/>
          </a:xfrm>
        </p:spPr>
        <p:txBody>
          <a:bodyPr/>
          <a:lstStyle/>
          <a:p>
            <a:r>
              <a:rPr lang="en-US" b="1" dirty="0" smtClean="0">
                <a:latin typeface="Times New Roman" panose="02020603050405020304" pitchFamily="18" charset="0"/>
                <a:cs typeface="Times New Roman" panose="02020603050405020304" pitchFamily="18" charset="0"/>
              </a:rPr>
              <a:t>Why Join Us</a:t>
            </a:r>
            <a:endParaRPr lang="en-US" b="1" dirty="0"/>
          </a:p>
        </p:txBody>
      </p:sp>
      <p:sp>
        <p:nvSpPr>
          <p:cNvPr id="3" name="Content Placeholder 2"/>
          <p:cNvSpPr>
            <a:spLocks noGrp="1"/>
          </p:cNvSpPr>
          <p:nvPr>
            <p:ph idx="1"/>
          </p:nvPr>
        </p:nvSpPr>
        <p:spPr>
          <a:xfrm>
            <a:off x="457200" y="1700808"/>
            <a:ext cx="8229600" cy="4425355"/>
          </a:xfrm>
        </p:spPr>
        <p:txBody>
          <a:bodyPr>
            <a:normAutofit/>
          </a:bodyPr>
          <a:lstStyle/>
          <a:p>
            <a:pPr>
              <a:buFont typeface="Wingdings" panose="05000000000000000000" pitchFamily="2" charset="2"/>
              <a:buChar char="Ø"/>
            </a:pPr>
            <a:r>
              <a:rPr lang="en-US" sz="2500" dirty="0" smtClean="0">
                <a:latin typeface="Times New Roman" panose="02020603050405020304" pitchFamily="18" charset="0"/>
                <a:cs typeface="Times New Roman" panose="02020603050405020304" pitchFamily="18" charset="0"/>
              </a:rPr>
              <a:t>Organized pre-placement /training /Workshops/ Seminars for students.</a:t>
            </a:r>
            <a:endParaRPr lang="en-US" sz="25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500" dirty="0" smtClean="0">
                <a:latin typeface="Times New Roman" panose="02020603050405020304" pitchFamily="18" charset="0"/>
                <a:cs typeface="Times New Roman" panose="02020603050405020304" pitchFamily="18" charset="0"/>
              </a:rPr>
              <a:t>We operate with the shared values of integrity, quality and accountability in everything we do.</a:t>
            </a:r>
            <a:endParaRPr lang="en-US" sz="25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500" dirty="0" smtClean="0">
                <a:latin typeface="Times New Roman" panose="02020603050405020304" pitchFamily="18" charset="0"/>
                <a:cs typeface="Times New Roman" panose="02020603050405020304" pitchFamily="18" charset="0"/>
              </a:rPr>
              <a:t>We have well trained, reliable, Experienced professionals; with capacity to deliver on commitments, rapid responsiveness to resource needs and great sense of urgency there b resulting into cost effective pricing for our customer.</a:t>
            </a:r>
            <a:endParaRPr lang="en-US" sz="2500" dirty="0" smtClean="0">
              <a:latin typeface="Times New Roman" panose="02020603050405020304" pitchFamily="18" charset="0"/>
              <a:cs typeface="Times New Roman" panose="02020603050405020304" pitchFamily="18" charset="0"/>
            </a:endParaRPr>
          </a:p>
          <a:p>
            <a:endParaRPr lang="en-US" dirty="0" smtClean="0"/>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413a0c69df5d126b4e76335f752b3702.jpg"/>
          <p:cNvPicPr>
            <a:picLocks noChangeAspect="1"/>
          </p:cNvPicPr>
          <p:nvPr/>
        </p:nvPicPr>
        <p:blipFill>
          <a:blip r:embed="rId1" cstate="print"/>
          <a:stretch>
            <a:fillRect/>
          </a:stretch>
        </p:blipFill>
        <p:spPr>
          <a:xfrm>
            <a:off x="0" y="0"/>
            <a:ext cx="9147250" cy="6858000"/>
          </a:xfrm>
          <a:prstGeom prst="rect">
            <a:avLst/>
          </a:prstGeom>
        </p:spPr>
      </p:pic>
      <p:sp>
        <p:nvSpPr>
          <p:cNvPr id="2" name="Title 1"/>
          <p:cNvSpPr>
            <a:spLocks noGrp="1"/>
          </p:cNvSpPr>
          <p:nvPr>
            <p:ph type="title"/>
          </p:nvPr>
        </p:nvSpPr>
        <p:spPr>
          <a:xfrm>
            <a:off x="0" y="260648"/>
            <a:ext cx="3394720" cy="1143000"/>
          </a:xfrm>
        </p:spPr>
        <p:txBody>
          <a:bodyPr>
            <a:normAutofit/>
          </a:bodyPr>
          <a:lstStyle/>
          <a:p>
            <a:r>
              <a:rPr lang="en-US" b="1" dirty="0" smtClean="0"/>
              <a:t>Get In Touch</a:t>
            </a:r>
            <a:endParaRPr lang="en-US" b="1" dirty="0"/>
          </a:p>
        </p:txBody>
      </p:sp>
      <p:sp>
        <p:nvSpPr>
          <p:cNvPr id="4" name="Rectangle 3"/>
          <p:cNvSpPr/>
          <p:nvPr/>
        </p:nvSpPr>
        <p:spPr>
          <a:xfrm>
            <a:off x="3347864" y="1412776"/>
            <a:ext cx="5256584" cy="4707890"/>
          </a:xfrm>
          <a:prstGeom prst="rect">
            <a:avLst/>
          </a:prstGeom>
        </p:spPr>
        <p:txBody>
          <a:bodyPr wrap="square">
            <a:spAutoFit/>
          </a:bodyPr>
          <a:lstStyle/>
          <a:p>
            <a:pPr algn="ctr">
              <a:buNone/>
            </a:pPr>
            <a:r>
              <a:rPr lang="en-US" dirty="0" smtClean="0"/>
              <a:t> </a:t>
            </a:r>
            <a:r>
              <a:rPr lang="en-US" sz="2500" dirty="0" smtClean="0"/>
              <a:t>20/2, Akar Builders, Opp – Dalal Nursing home, Near Byramji town, Sadar, Nagpur.</a:t>
            </a:r>
            <a:endParaRPr lang="en-US" sz="2500" dirty="0" smtClean="0"/>
          </a:p>
          <a:p>
            <a:pPr algn="ctr">
              <a:buNone/>
            </a:pPr>
            <a:r>
              <a:rPr lang="en-US" sz="2500" dirty="0" smtClean="0"/>
              <a:t>      Website: www.perceptinfosystem.com</a:t>
            </a:r>
            <a:endParaRPr lang="en-US" sz="2500" dirty="0" smtClean="0"/>
          </a:p>
          <a:p>
            <a:pPr algn="ctr">
              <a:buNone/>
            </a:pPr>
            <a:r>
              <a:rPr lang="en-US" sz="2500" dirty="0" smtClean="0"/>
              <a:t>      Email: </a:t>
            </a:r>
            <a:r>
              <a:rPr lang="en-US" sz="2500" dirty="0" smtClean="0">
                <a:hlinkClick r:id="rId2"/>
              </a:rPr>
              <a:t>hr@perceptinfosystem.com</a:t>
            </a:r>
            <a:endParaRPr lang="en-US" sz="2500" dirty="0" smtClean="0"/>
          </a:p>
          <a:p>
            <a:pPr algn="ctr">
              <a:buNone/>
            </a:pPr>
            <a:endParaRPr lang="en-US" sz="2500" dirty="0" smtClean="0"/>
          </a:p>
          <a:p>
            <a:pPr algn="ctr">
              <a:buNone/>
            </a:pPr>
            <a:r>
              <a:rPr lang="en-US" sz="2500" dirty="0" smtClean="0"/>
              <a:t>      </a:t>
            </a:r>
            <a:r>
              <a:rPr lang="en-US" sz="2500" b="1" dirty="0" smtClean="0"/>
              <a:t>Ms. Pooja  Bhosle Patil</a:t>
            </a:r>
            <a:endParaRPr lang="en-US" sz="2500" b="1" dirty="0" smtClean="0"/>
          </a:p>
          <a:p>
            <a:pPr algn="ctr">
              <a:buNone/>
            </a:pPr>
            <a:r>
              <a:rPr lang="en-US" sz="2500" dirty="0" smtClean="0"/>
              <a:t>      8208970766</a:t>
            </a:r>
            <a:endParaRPr lang="en-US" sz="2500" dirty="0" smtClean="0"/>
          </a:p>
          <a:p>
            <a:pPr algn="ctr">
              <a:buNone/>
            </a:pPr>
            <a:endParaRPr lang="en-US" sz="2500" dirty="0" smtClean="0"/>
          </a:p>
          <a:p>
            <a:pPr algn="ctr">
              <a:buNone/>
            </a:pPr>
            <a:r>
              <a:rPr lang="en-US" sz="2500" b="1" dirty="0" smtClean="0"/>
              <a:t>     Mr. Rohit Patil</a:t>
            </a:r>
            <a:endParaRPr lang="en-US" sz="2500" b="1" dirty="0" smtClean="0"/>
          </a:p>
          <a:p>
            <a:pPr algn="ctr">
              <a:buNone/>
            </a:pPr>
            <a:r>
              <a:rPr lang="en-US" sz="2500" dirty="0" smtClean="0"/>
              <a:t>      7414977373</a:t>
            </a:r>
            <a:endParaRPr lang="en-US" sz="2500" dirty="0"/>
          </a:p>
        </p:txBody>
      </p:sp>
      <p:pic>
        <p:nvPicPr>
          <p:cNvPr id="5" name="Picture 4" descr="facebook.png"/>
          <p:cNvPicPr>
            <a:picLocks noChangeAspect="1"/>
          </p:cNvPicPr>
          <p:nvPr/>
        </p:nvPicPr>
        <p:blipFill>
          <a:blip r:embed="rId3" cstate="print"/>
          <a:stretch>
            <a:fillRect/>
          </a:stretch>
        </p:blipFill>
        <p:spPr>
          <a:xfrm>
            <a:off x="539552" y="5373216"/>
            <a:ext cx="762000" cy="762000"/>
          </a:xfrm>
          <a:prstGeom prst="rect">
            <a:avLst/>
          </a:prstGeom>
        </p:spPr>
      </p:pic>
      <p:pic>
        <p:nvPicPr>
          <p:cNvPr id="6" name="Picture 5" descr="instagram.jpg"/>
          <p:cNvPicPr>
            <a:picLocks noChangeAspect="1"/>
          </p:cNvPicPr>
          <p:nvPr/>
        </p:nvPicPr>
        <p:blipFill>
          <a:blip r:embed="rId4" cstate="print"/>
          <a:stretch>
            <a:fillRect/>
          </a:stretch>
        </p:blipFill>
        <p:spPr>
          <a:xfrm>
            <a:off x="1301552" y="5301208"/>
            <a:ext cx="990600" cy="910208"/>
          </a:xfrm>
          <a:prstGeom prst="rect">
            <a:avLst/>
          </a:prstGeom>
        </p:spPr>
      </p:pic>
      <p:pic>
        <p:nvPicPr>
          <p:cNvPr id="7" name="Picture 6" descr="images.png"/>
          <p:cNvPicPr>
            <a:picLocks noChangeAspect="1"/>
          </p:cNvPicPr>
          <p:nvPr/>
        </p:nvPicPr>
        <p:blipFill>
          <a:blip r:embed="rId5" cstate="print"/>
          <a:stretch>
            <a:fillRect/>
          </a:stretch>
        </p:blipFill>
        <p:spPr>
          <a:xfrm>
            <a:off x="2215952" y="5301208"/>
            <a:ext cx="990600" cy="910208"/>
          </a:xfrm>
          <a:prstGeom prst="rect">
            <a:avLst/>
          </a:prstGeom>
        </p:spPr>
      </p:pic>
      <p:pic>
        <p:nvPicPr>
          <p:cNvPr id="10" name="Picture 9" descr="percept logo.png"/>
          <p:cNvPicPr>
            <a:picLocks noChangeAspect="1"/>
          </p:cNvPicPr>
          <p:nvPr/>
        </p:nvPicPr>
        <p:blipFill>
          <a:blip r:embed="rId6" cstate="print"/>
          <a:stretch>
            <a:fillRect/>
          </a:stretch>
        </p:blipFill>
        <p:spPr>
          <a:xfrm>
            <a:off x="4716016" y="332656"/>
            <a:ext cx="2566101" cy="1008112"/>
          </a:xfrm>
          <a:prstGeom prst="rect">
            <a:avLst/>
          </a:prstGeom>
        </p:spPr>
      </p:pic>
      <p:sp>
        <p:nvSpPr>
          <p:cNvPr id="11" name="Right Arrow 10"/>
          <p:cNvSpPr/>
          <p:nvPr/>
        </p:nvSpPr>
        <p:spPr>
          <a:xfrm>
            <a:off x="251520" y="1268760"/>
            <a:ext cx="2952328" cy="720080"/>
          </a:xfrm>
          <a:prstGeom prst="rightArrow">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3903</Words>
  <Application>WPS Presentation</Application>
  <PresentationFormat>On-screen Show (4:3)</PresentationFormat>
  <Paragraphs>139</Paragraphs>
  <Slides>12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Arial</vt:lpstr>
      <vt:lpstr>SimSun</vt:lpstr>
      <vt:lpstr>Wingdings</vt:lpstr>
      <vt:lpstr>Agency FB</vt:lpstr>
      <vt:lpstr>Arial Rounded MT Bold</vt:lpstr>
      <vt:lpstr>Times New Roman</vt:lpstr>
      <vt:lpstr>Calibri</vt:lpstr>
      <vt:lpstr>Microsoft YaHei</vt:lpstr>
      <vt:lpstr>Arial Unicode MS</vt:lpstr>
      <vt:lpstr>Office Theme</vt:lpstr>
      <vt:lpstr>Company Profile</vt:lpstr>
      <vt:lpstr>Our Vision and Mission</vt:lpstr>
      <vt:lpstr>DEVELOPMENT</vt:lpstr>
      <vt:lpstr>Our Services</vt:lpstr>
      <vt:lpstr>PowerPoint 演示文稿</vt:lpstr>
      <vt:lpstr>TRAINING COURSE</vt:lpstr>
      <vt:lpstr>OUR TEAM</vt:lpstr>
      <vt:lpstr>Placements:</vt:lpstr>
      <vt:lpstr>OUR CLIENTS</vt:lpstr>
      <vt:lpstr>PowerPoint 演示文稿</vt:lpstr>
      <vt:lpstr>Why Join Us</vt:lpstr>
      <vt:lpstr>Get In Touch</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Profile</dc:title>
  <dc:creator>LENOVO</dc:creator>
  <cp:lastModifiedBy>user</cp:lastModifiedBy>
  <cp:revision>27</cp:revision>
  <dcterms:created xsi:type="dcterms:W3CDTF">2022-10-22T08:09:00Z</dcterms:created>
  <dcterms:modified xsi:type="dcterms:W3CDTF">2025-10-30T11:12:16Z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B15FB65AE6FA47548A57441D70999CBA_13</vt:lpwstr>
  </property>
  <property fmtid="{D5CDD505-2E9C-101B-9397-08002B2CF9AE}" pid="3" name="KSOProductBuildVer">
    <vt:lpwstr>1033-12.2.0.23131</vt:lpwstr>
  </property>
</Properties>
</file>